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946" r:id="rId1"/>
  </p:sldMasterIdLst>
  <p:notesMasterIdLst>
    <p:notesMasterId r:id="rId26"/>
  </p:notesMasterIdLst>
  <p:sldIdLst>
    <p:sldId id="256" r:id="rId2"/>
    <p:sldId id="264" r:id="rId3"/>
    <p:sldId id="257" r:id="rId4"/>
    <p:sldId id="277" r:id="rId5"/>
    <p:sldId id="286" r:id="rId6"/>
    <p:sldId id="287" r:id="rId7"/>
    <p:sldId id="260" r:id="rId8"/>
    <p:sldId id="263" r:id="rId9"/>
    <p:sldId id="266" r:id="rId10"/>
    <p:sldId id="288" r:id="rId11"/>
    <p:sldId id="267" r:id="rId12"/>
    <p:sldId id="278" r:id="rId13"/>
    <p:sldId id="265" r:id="rId14"/>
    <p:sldId id="273" r:id="rId15"/>
    <p:sldId id="280" r:id="rId16"/>
    <p:sldId id="281" r:id="rId17"/>
    <p:sldId id="283" r:id="rId18"/>
    <p:sldId id="284" r:id="rId19"/>
    <p:sldId id="285" r:id="rId20"/>
    <p:sldId id="258" r:id="rId21"/>
    <p:sldId id="289" r:id="rId22"/>
    <p:sldId id="290" r:id="rId23"/>
    <p:sldId id="291" r:id="rId24"/>
    <p:sldId id="292" r:id="rId25"/>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3AB77156-FF17-4DB4-AA1C-6CE4B49E7531}" v="25" dt="2025-12-27T06:57:33.446"/>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5799" autoAdjust="0"/>
    <p:restoredTop sz="94660"/>
  </p:normalViewPr>
  <p:slideViewPr>
    <p:cSldViewPr snapToGrid="0">
      <p:cViewPr varScale="1">
        <p:scale>
          <a:sx n="78" d="100"/>
          <a:sy n="78" d="100"/>
        </p:scale>
        <p:origin x="1301"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microsoft.com/office/2015/10/relationships/revisionInfo" Target="revisionInfo.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presProps" Target="presProps.xml"/><Relationship Id="rId30"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35EF848-7E3F-410D-BE4D-2E9493034D1B}" type="datetimeFigureOut">
              <a:rPr lang="en-IN" smtClean="0"/>
              <a:t>17-05-2026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10AF7CA-B928-4704-8C68-BC96CEFB215F}" type="slidenum">
              <a:rPr lang="en-IN" smtClean="0"/>
              <a:t>‹#›</a:t>
            </a:fld>
            <a:endParaRPr lang="en-IN"/>
          </a:p>
        </p:txBody>
      </p:sp>
    </p:spTree>
    <p:extLst>
      <p:ext uri="{BB962C8B-B14F-4D97-AF65-F5344CB8AC3E}">
        <p14:creationId xmlns:p14="http://schemas.microsoft.com/office/powerpoint/2010/main" val="214019114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16" name="Group 15"/>
          <p:cNvGrpSpPr/>
          <p:nvPr/>
        </p:nvGrpSpPr>
        <p:grpSpPr>
          <a:xfrm>
            <a:off x="0" y="-8467"/>
            <a:ext cx="12192000" cy="6866467"/>
            <a:chOff x="0" y="-8467"/>
            <a:chExt cx="12192000" cy="6866467"/>
          </a:xfrm>
        </p:grpSpPr>
        <p:sp>
          <p:nvSpPr>
            <p:cNvPr id="15" name="Freeform 14"/>
            <p:cNvSpPr/>
            <p:nvPr/>
          </p:nvSpPr>
          <p:spPr>
            <a:xfrm>
              <a:off x="0" y="-7862"/>
              <a:ext cx="863600" cy="5698067"/>
            </a:xfrm>
            <a:custGeom>
              <a:avLst/>
              <a:gdLst/>
              <a:ahLst/>
              <a:cxnLst/>
              <a:rect l="l" t="t" r="r" b="b"/>
              <a:pathLst>
                <a:path w="863600" h="5698067">
                  <a:moveTo>
                    <a:pt x="0" y="8467"/>
                  </a:moveTo>
                  <a:lnTo>
                    <a:pt x="863600" y="0"/>
                  </a:lnTo>
                  <a:lnTo>
                    <a:pt x="863600" y="16934"/>
                  </a:lnTo>
                  <a:lnTo>
                    <a:pt x="0" y="5698067"/>
                  </a:lnTo>
                  <a:lnTo>
                    <a:pt x="0" y="8467"/>
                  </a:lnTo>
                  <a:close/>
                </a:path>
              </a:pathLst>
            </a:cu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cxnSp>
          <p:nvCxnSpPr>
            <p:cNvPr id="19" name="Straight Connector 18"/>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1"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2"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Isosceles Triangle 22"/>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3E81181B-2976-447C-B170-AD29252F96C2}" type="datetimeFigureOut">
              <a:rPr lang="en-IN" smtClean="0"/>
              <a:t>17-05-2026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7A0A9EC6-6E02-439E-886A-354B19F0089D}" type="slidenum">
              <a:rPr lang="en-IN" smtClean="0"/>
              <a:t>‹#›</a:t>
            </a:fld>
            <a:endParaRPr lang="en-IN"/>
          </a:p>
        </p:txBody>
      </p:sp>
    </p:spTree>
    <p:extLst>
      <p:ext uri="{BB962C8B-B14F-4D97-AF65-F5344CB8AC3E}">
        <p14:creationId xmlns:p14="http://schemas.microsoft.com/office/powerpoint/2010/main" val="135368252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3E81181B-2976-447C-B170-AD29252F96C2}" type="datetimeFigureOut">
              <a:rPr lang="en-IN" smtClean="0"/>
              <a:t>17-05-2026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7A0A9EC6-6E02-439E-886A-354B19F0089D}" type="slidenum">
              <a:rPr lang="en-IN" smtClean="0"/>
              <a:t>‹#›</a:t>
            </a:fld>
            <a:endParaRPr lang="en-IN"/>
          </a:p>
        </p:txBody>
      </p:sp>
    </p:spTree>
    <p:extLst>
      <p:ext uri="{BB962C8B-B14F-4D97-AF65-F5344CB8AC3E}">
        <p14:creationId xmlns:p14="http://schemas.microsoft.com/office/powerpoint/2010/main" val="82831335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3E81181B-2976-447C-B170-AD29252F96C2}" type="datetimeFigureOut">
              <a:rPr lang="en-IN" smtClean="0"/>
              <a:t>17-05-2026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7A0A9EC6-6E02-439E-886A-354B19F0089D}" type="slidenum">
              <a:rPr lang="en-IN" smtClean="0"/>
              <a:t>‹#›</a:t>
            </a:fld>
            <a:endParaRPr lang="en-IN"/>
          </a:p>
        </p:txBody>
      </p:sp>
    </p:spTree>
    <p:extLst>
      <p:ext uri="{BB962C8B-B14F-4D97-AF65-F5344CB8AC3E}">
        <p14:creationId xmlns:p14="http://schemas.microsoft.com/office/powerpoint/2010/main" val="325745590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3E81181B-2976-447C-B170-AD29252F96C2}" type="datetimeFigureOut">
              <a:rPr lang="en-IN" smtClean="0"/>
              <a:t>17-05-2026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7A0A9EC6-6E02-439E-886A-354B19F0089D}" type="slidenum">
              <a:rPr lang="en-IN" smtClean="0"/>
              <a:t>‹#›</a:t>
            </a:fld>
            <a:endParaRPr lang="en-IN"/>
          </a:p>
        </p:txBody>
      </p:sp>
    </p:spTree>
    <p:extLst>
      <p:ext uri="{BB962C8B-B14F-4D97-AF65-F5344CB8AC3E}">
        <p14:creationId xmlns:p14="http://schemas.microsoft.com/office/powerpoint/2010/main" val="420564175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3E81181B-2976-447C-B170-AD29252F96C2}" type="datetimeFigureOut">
              <a:rPr lang="en-IN" smtClean="0"/>
              <a:t>17-05-2026</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7A0A9EC6-6E02-439E-886A-354B19F0089D}" type="slidenum">
              <a:rPr lang="en-IN" smtClean="0"/>
              <a:t>‹#›</a:t>
            </a:fld>
            <a:endParaRPr lang="en-IN"/>
          </a:p>
        </p:txBody>
      </p:sp>
    </p:spTree>
    <p:extLst>
      <p:ext uri="{BB962C8B-B14F-4D97-AF65-F5344CB8AC3E}">
        <p14:creationId xmlns:p14="http://schemas.microsoft.com/office/powerpoint/2010/main" val="342549891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3E81181B-2976-447C-B170-AD29252F96C2}" type="datetimeFigureOut">
              <a:rPr lang="en-IN" smtClean="0"/>
              <a:t>17-05-2026</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7A0A9EC6-6E02-439E-886A-354B19F0089D}" type="slidenum">
              <a:rPr lang="en-IN" smtClean="0"/>
              <a:t>‹#›</a:t>
            </a:fld>
            <a:endParaRPr lang="en-IN"/>
          </a:p>
        </p:txBody>
      </p:sp>
    </p:spTree>
    <p:extLst>
      <p:ext uri="{BB962C8B-B14F-4D97-AF65-F5344CB8AC3E}">
        <p14:creationId xmlns:p14="http://schemas.microsoft.com/office/powerpoint/2010/main" val="398982657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3E81181B-2976-447C-B170-AD29252F96C2}" type="datetimeFigureOut">
              <a:rPr lang="en-IN" smtClean="0"/>
              <a:t>17-05-2026</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7A0A9EC6-6E02-439E-886A-354B19F0089D}" type="slidenum">
              <a:rPr lang="en-IN" smtClean="0"/>
              <a:t>‹#›</a:t>
            </a:fld>
            <a:endParaRPr lang="en-IN"/>
          </a:p>
        </p:txBody>
      </p:sp>
    </p:spTree>
    <p:extLst>
      <p:ext uri="{BB962C8B-B14F-4D97-AF65-F5344CB8AC3E}">
        <p14:creationId xmlns:p14="http://schemas.microsoft.com/office/powerpoint/2010/main" val="16768295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3E81181B-2976-447C-B170-AD29252F96C2}" type="datetimeFigureOut">
              <a:rPr lang="en-IN" smtClean="0"/>
              <a:t>17-05-2026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7A0A9EC6-6E02-439E-886A-354B19F0089D}" type="slidenum">
              <a:rPr lang="en-IN" smtClean="0"/>
              <a:t>‹#›</a:t>
            </a:fld>
            <a:endParaRPr lang="en-IN"/>
          </a:p>
        </p:txBody>
      </p:sp>
    </p:spTree>
    <p:extLst>
      <p:ext uri="{BB962C8B-B14F-4D97-AF65-F5344CB8AC3E}">
        <p14:creationId xmlns:p14="http://schemas.microsoft.com/office/powerpoint/2010/main" val="113826052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7A0A9EC6-6E02-439E-886A-354B19F0089D}" type="slidenum">
              <a:rPr lang="en-IN" smtClean="0"/>
              <a:t>‹#›</a:t>
            </a:fld>
            <a:endParaRPr lang="en-IN"/>
          </a:p>
        </p:txBody>
      </p:sp>
      <p:sp>
        <p:nvSpPr>
          <p:cNvPr id="5" name="Date Placeholder 4"/>
          <p:cNvSpPr>
            <a:spLocks noGrp="1"/>
          </p:cNvSpPr>
          <p:nvPr>
            <p:ph type="dt" sz="half" idx="10"/>
          </p:nvPr>
        </p:nvSpPr>
        <p:spPr/>
        <p:txBody>
          <a:bodyPr/>
          <a:lstStyle/>
          <a:p>
            <a:fld id="{3E81181B-2976-447C-B170-AD29252F96C2}" type="datetimeFigureOut">
              <a:rPr lang="en-IN" smtClean="0"/>
              <a:t>17-05-2026</a:t>
            </a:fld>
            <a:endParaRPr lang="en-IN"/>
          </a:p>
        </p:txBody>
      </p:sp>
    </p:spTree>
    <p:extLst>
      <p:ext uri="{BB962C8B-B14F-4D97-AF65-F5344CB8AC3E}">
        <p14:creationId xmlns:p14="http://schemas.microsoft.com/office/powerpoint/2010/main" val="221852993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3E81181B-2976-447C-B170-AD29252F96C2}" type="datetimeFigureOut">
              <a:rPr lang="en-IN" smtClean="0"/>
              <a:t>17-05-2026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7A0A9EC6-6E02-439E-886A-354B19F0089D}" type="slidenum">
              <a:rPr lang="en-IN" smtClean="0"/>
              <a:t>‹#›</a:t>
            </a:fld>
            <a:endParaRPr lang="en-IN"/>
          </a:p>
        </p:txBody>
      </p:sp>
    </p:spTree>
    <p:extLst>
      <p:ext uri="{BB962C8B-B14F-4D97-AF65-F5344CB8AC3E}">
        <p14:creationId xmlns:p14="http://schemas.microsoft.com/office/powerpoint/2010/main" val="92146787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3E81181B-2976-447C-B170-AD29252F96C2}" type="datetimeFigureOut">
              <a:rPr lang="en-IN" smtClean="0"/>
              <a:t>17-05-2026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7A0A9EC6-6E02-439E-886A-354B19F0089D}" type="slidenum">
              <a:rPr lang="en-IN" smtClean="0"/>
              <a:t>‹#›</a:t>
            </a:fld>
            <a:endParaRPr lang="en-IN"/>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247783072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3E81181B-2976-447C-B170-AD29252F96C2}" type="datetimeFigureOut">
              <a:rPr lang="en-IN" smtClean="0"/>
              <a:t>17-05-2026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7A0A9EC6-6E02-439E-886A-354B19F0089D}" type="slidenum">
              <a:rPr lang="en-IN" smtClean="0"/>
              <a:t>‹#›</a:t>
            </a:fld>
            <a:endParaRPr lang="en-IN"/>
          </a:p>
        </p:txBody>
      </p:sp>
    </p:spTree>
    <p:extLst>
      <p:ext uri="{BB962C8B-B14F-4D97-AF65-F5344CB8AC3E}">
        <p14:creationId xmlns:p14="http://schemas.microsoft.com/office/powerpoint/2010/main" val="188809107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3E81181B-2976-447C-B170-AD29252F96C2}" type="datetimeFigureOut">
              <a:rPr lang="en-IN" smtClean="0"/>
              <a:t>17-05-2026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7A0A9EC6-6E02-439E-886A-354B19F0089D}" type="slidenum">
              <a:rPr lang="en-IN" smtClean="0"/>
              <a:t>‹#›</a:t>
            </a:fld>
            <a:endParaRPr lang="en-IN"/>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607789750"/>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3E81181B-2976-447C-B170-AD29252F96C2}" type="datetimeFigureOut">
              <a:rPr lang="en-IN" smtClean="0"/>
              <a:t>17-05-2026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7A0A9EC6-6E02-439E-886A-354B19F0089D}" type="slidenum">
              <a:rPr lang="en-IN" smtClean="0"/>
              <a:t>‹#›</a:t>
            </a:fld>
            <a:endParaRPr lang="en-IN"/>
          </a:p>
        </p:txBody>
      </p:sp>
    </p:spTree>
    <p:extLst>
      <p:ext uri="{BB962C8B-B14F-4D97-AF65-F5344CB8AC3E}">
        <p14:creationId xmlns:p14="http://schemas.microsoft.com/office/powerpoint/2010/main" val="367108834"/>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3E81181B-2976-447C-B170-AD29252F96C2}" type="datetimeFigureOut">
              <a:rPr lang="en-IN" smtClean="0"/>
              <a:t>17-05-2026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7A0A9EC6-6E02-439E-886A-354B19F0089D}" type="slidenum">
              <a:rPr lang="en-IN" smtClean="0"/>
              <a:t>‹#›</a:t>
            </a:fld>
            <a:endParaRPr lang="en-IN"/>
          </a:p>
        </p:txBody>
      </p:sp>
    </p:spTree>
    <p:extLst>
      <p:ext uri="{BB962C8B-B14F-4D97-AF65-F5344CB8AC3E}">
        <p14:creationId xmlns:p14="http://schemas.microsoft.com/office/powerpoint/2010/main" val="3222584193"/>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3E81181B-2976-447C-B170-AD29252F96C2}" type="datetimeFigureOut">
              <a:rPr lang="en-IN" smtClean="0"/>
              <a:t>17-05-2026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7A0A9EC6-6E02-439E-886A-354B19F0089D}" type="slidenum">
              <a:rPr lang="en-IN" smtClean="0"/>
              <a:t>‹#›</a:t>
            </a:fld>
            <a:endParaRPr lang="en-IN"/>
          </a:p>
        </p:txBody>
      </p:sp>
    </p:spTree>
    <p:extLst>
      <p:ext uri="{BB962C8B-B14F-4D97-AF65-F5344CB8AC3E}">
        <p14:creationId xmlns:p14="http://schemas.microsoft.com/office/powerpoint/2010/main" val="424725547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44" name="Group 43"/>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a:off x="0" y="4013200"/>
              <a:ext cx="448733" cy="2844800"/>
            </a:xfrm>
            <a:prstGeom prst="triangle">
              <a:avLst>
                <a:gd name="adj" fmla="val 0"/>
              </a:avLst>
            </a:pr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3E81181B-2976-447C-B170-AD29252F96C2}" type="datetimeFigureOut">
              <a:rPr lang="en-IN" smtClean="0"/>
              <a:t>17-05-2026</a:t>
            </a:fld>
            <a:endParaRPr lang="en-IN"/>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7A0A9EC6-6E02-439E-886A-354B19F0089D}" type="slidenum">
              <a:rPr lang="en-IN" smtClean="0"/>
              <a:t>‹#›</a:t>
            </a:fld>
            <a:endParaRPr lang="en-IN"/>
          </a:p>
        </p:txBody>
      </p:sp>
    </p:spTree>
    <p:extLst>
      <p:ext uri="{BB962C8B-B14F-4D97-AF65-F5344CB8AC3E}">
        <p14:creationId xmlns:p14="http://schemas.microsoft.com/office/powerpoint/2010/main" val="3873427137"/>
      </p:ext>
    </p:extLst>
  </p:cSld>
  <p:clrMap bg1="lt1" tx1="dk1" bg2="lt2" tx2="dk2" accent1="accent1" accent2="accent2" accent3="accent3" accent4="accent4" accent5="accent5" accent6="accent6" hlink="hlink" folHlink="folHlink"/>
  <p:sldLayoutIdLst>
    <p:sldLayoutId id="2147483947" r:id="rId1"/>
    <p:sldLayoutId id="2147483948" r:id="rId2"/>
    <p:sldLayoutId id="2147483949" r:id="rId3"/>
    <p:sldLayoutId id="2147483950" r:id="rId4"/>
    <p:sldLayoutId id="2147483951" r:id="rId5"/>
    <p:sldLayoutId id="2147483952" r:id="rId6"/>
    <p:sldLayoutId id="2147483953" r:id="rId7"/>
    <p:sldLayoutId id="2147483954" r:id="rId8"/>
    <p:sldLayoutId id="2147483955" r:id="rId9"/>
    <p:sldLayoutId id="2147483956" r:id="rId10"/>
    <p:sldLayoutId id="2147483957" r:id="rId11"/>
    <p:sldLayoutId id="2147483958" r:id="rId12"/>
    <p:sldLayoutId id="2147483959" r:id="rId13"/>
    <p:sldLayoutId id="2147483960" r:id="rId14"/>
    <p:sldLayoutId id="2147483961" r:id="rId15"/>
    <p:sldLayoutId id="2147483962" r:id="rId16"/>
  </p:sldLayoutIdLst>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Department-Of-HS : SRK Institute of Technology (SRKIT ...">
            <a:extLst>
              <a:ext uri="{FF2B5EF4-FFF2-40B4-BE49-F238E27FC236}">
                <a16:creationId xmlns:a16="http://schemas.microsoft.com/office/drawing/2014/main" id="{A7C108D1-A030-1755-4051-68FC6ABBFC4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58264" y="178016"/>
            <a:ext cx="1308114" cy="913211"/>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C53CF5FB-D04E-B386-A2ED-10F0EFD853DD}"/>
              </a:ext>
            </a:extLst>
          </p:cNvPr>
          <p:cNvSpPr txBox="1"/>
          <p:nvPr/>
        </p:nvSpPr>
        <p:spPr>
          <a:xfrm>
            <a:off x="224589" y="721895"/>
            <a:ext cx="505267" cy="369332"/>
          </a:xfrm>
          <a:prstGeom prst="rect">
            <a:avLst/>
          </a:prstGeom>
          <a:noFill/>
        </p:spPr>
        <p:txBody>
          <a:bodyPr wrap="none" rtlCol="0">
            <a:spAutoFit/>
          </a:bodyPr>
          <a:lstStyle/>
          <a:p>
            <a:r>
              <a:rPr lang="en-IN" dirty="0"/>
              <a:t>     </a:t>
            </a:r>
          </a:p>
        </p:txBody>
      </p:sp>
      <p:sp>
        <p:nvSpPr>
          <p:cNvPr id="5" name="TextBox 4">
            <a:extLst>
              <a:ext uri="{FF2B5EF4-FFF2-40B4-BE49-F238E27FC236}">
                <a16:creationId xmlns:a16="http://schemas.microsoft.com/office/drawing/2014/main" id="{70E188D9-C787-9203-856D-14D8B9E07EBD}"/>
              </a:ext>
            </a:extLst>
          </p:cNvPr>
          <p:cNvSpPr txBox="1"/>
          <p:nvPr/>
        </p:nvSpPr>
        <p:spPr>
          <a:xfrm>
            <a:off x="358264" y="2959058"/>
            <a:ext cx="4036755" cy="923330"/>
          </a:xfrm>
          <a:prstGeom prst="rect">
            <a:avLst/>
          </a:prstGeom>
          <a:noFill/>
        </p:spPr>
        <p:txBody>
          <a:bodyPr wrap="square" rtlCol="0">
            <a:spAutoFit/>
          </a:bodyPr>
          <a:lstStyle/>
          <a:p>
            <a:pPr algn="l"/>
            <a:r>
              <a:rPr lang="en-IN" b="1" spc="55" dirty="0">
                <a:solidFill>
                  <a:schemeClr val="tx1"/>
                </a:solidFill>
                <a:latin typeface="Times New Roman"/>
                <a:cs typeface="Times New Roman"/>
              </a:rPr>
              <a:t>BATCH-8 </a:t>
            </a:r>
          </a:p>
          <a:p>
            <a:pPr algn="l"/>
            <a:r>
              <a:rPr lang="en-IN" b="1" spc="55" dirty="0">
                <a:solidFill>
                  <a:schemeClr val="tx1"/>
                </a:solidFill>
                <a:latin typeface="Times New Roman"/>
                <a:cs typeface="Times New Roman"/>
              </a:rPr>
              <a:t>AUTHORS:</a:t>
            </a:r>
            <a:endParaRPr lang="en-IN" dirty="0">
              <a:solidFill>
                <a:schemeClr val="tx1"/>
              </a:solidFill>
              <a:latin typeface="Times New Roman"/>
              <a:cs typeface="Times New Roman"/>
            </a:endParaRPr>
          </a:p>
          <a:p>
            <a:endParaRPr lang="en-IN" dirty="0"/>
          </a:p>
        </p:txBody>
      </p:sp>
      <p:sp>
        <p:nvSpPr>
          <p:cNvPr id="9" name="TextBox 8">
            <a:extLst>
              <a:ext uri="{FF2B5EF4-FFF2-40B4-BE49-F238E27FC236}">
                <a16:creationId xmlns:a16="http://schemas.microsoft.com/office/drawing/2014/main" id="{8BDE3E2C-F211-7D95-2BCB-BDCC793E589F}"/>
              </a:ext>
            </a:extLst>
          </p:cNvPr>
          <p:cNvSpPr txBox="1"/>
          <p:nvPr/>
        </p:nvSpPr>
        <p:spPr>
          <a:xfrm>
            <a:off x="224589" y="3599494"/>
            <a:ext cx="6104020" cy="1900520"/>
          </a:xfrm>
          <a:prstGeom prst="rect">
            <a:avLst/>
          </a:prstGeom>
          <a:noFill/>
        </p:spPr>
        <p:txBody>
          <a:bodyPr wrap="square">
            <a:spAutoFit/>
          </a:bodyPr>
          <a:lstStyle/>
          <a:p>
            <a:pPr marL="110489" marR="5080" algn="l">
              <a:spcBef>
                <a:spcPts val="915"/>
              </a:spcBef>
            </a:pPr>
            <a:r>
              <a:rPr lang="en-IN" spc="135" dirty="0" err="1">
                <a:latin typeface="Times New Roman"/>
                <a:cs typeface="Times New Roman"/>
              </a:rPr>
              <a:t>Gopalam</a:t>
            </a:r>
            <a:r>
              <a:rPr lang="en-IN" spc="10" dirty="0" err="1">
                <a:latin typeface="Times New Roman"/>
                <a:cs typeface="Times New Roman"/>
              </a:rPr>
              <a:t>.</a:t>
            </a:r>
            <a:r>
              <a:rPr lang="en-IN" spc="114" dirty="0" err="1">
                <a:latin typeface="Times New Roman"/>
                <a:cs typeface="Times New Roman"/>
              </a:rPr>
              <a:t>Himaja</a:t>
            </a:r>
            <a:endParaRPr lang="en-IN" spc="114" dirty="0">
              <a:latin typeface="Times New Roman"/>
              <a:cs typeface="Times New Roman"/>
            </a:endParaRPr>
          </a:p>
          <a:p>
            <a:pPr marL="110489" marR="5080" algn="l">
              <a:spcBef>
                <a:spcPts val="915"/>
              </a:spcBef>
            </a:pPr>
            <a:r>
              <a:rPr lang="en-IN" spc="145" dirty="0" err="1">
                <a:latin typeface="Times New Roman"/>
                <a:cs typeface="Times New Roman"/>
              </a:rPr>
              <a:t>SK.</a:t>
            </a:r>
            <a:r>
              <a:rPr lang="en-IN" spc="105" dirty="0" err="1">
                <a:latin typeface="Times New Roman"/>
                <a:cs typeface="Times New Roman"/>
              </a:rPr>
              <a:t>Mabunnisa</a:t>
            </a:r>
            <a:endParaRPr lang="en-IN" spc="105" dirty="0">
              <a:latin typeface="Times New Roman"/>
              <a:cs typeface="Times New Roman"/>
            </a:endParaRPr>
          </a:p>
          <a:p>
            <a:pPr marL="110489" marR="5080" algn="l">
              <a:spcBef>
                <a:spcPts val="915"/>
              </a:spcBef>
            </a:pPr>
            <a:r>
              <a:rPr lang="en-IN" spc="45" dirty="0" err="1">
                <a:latin typeface="Times New Roman"/>
                <a:cs typeface="Times New Roman"/>
              </a:rPr>
              <a:t>Ch.Vamsi</a:t>
            </a:r>
            <a:r>
              <a:rPr lang="en-IN" spc="15" dirty="0">
                <a:latin typeface="Times New Roman"/>
                <a:cs typeface="Times New Roman"/>
              </a:rPr>
              <a:t> </a:t>
            </a:r>
            <a:r>
              <a:rPr lang="en-IN" spc="140" dirty="0">
                <a:latin typeface="Times New Roman"/>
                <a:cs typeface="Times New Roman"/>
              </a:rPr>
              <a:t>Narendra</a:t>
            </a:r>
          </a:p>
          <a:p>
            <a:pPr marL="110489" marR="5080" algn="l">
              <a:spcBef>
                <a:spcPts val="915"/>
              </a:spcBef>
            </a:pPr>
            <a:r>
              <a:rPr lang="en-IN" spc="175" dirty="0" err="1">
                <a:latin typeface="Times New Roman"/>
                <a:cs typeface="Times New Roman"/>
              </a:rPr>
              <a:t>CH.</a:t>
            </a:r>
            <a:r>
              <a:rPr lang="en-IN" spc="120" dirty="0" err="1">
                <a:latin typeface="Times New Roman"/>
                <a:cs typeface="Times New Roman"/>
              </a:rPr>
              <a:t>Tarun</a:t>
            </a:r>
            <a:r>
              <a:rPr lang="en-IN" spc="5" dirty="0">
                <a:latin typeface="Times New Roman"/>
                <a:cs typeface="Times New Roman"/>
              </a:rPr>
              <a:t> </a:t>
            </a:r>
            <a:r>
              <a:rPr lang="en-IN" spc="-25" dirty="0">
                <a:latin typeface="Times New Roman"/>
                <a:cs typeface="Times New Roman"/>
              </a:rPr>
              <a:t>Sai</a:t>
            </a:r>
            <a:endParaRPr lang="en-IN" dirty="0">
              <a:latin typeface="Times New Roman"/>
              <a:cs typeface="Times New Roman"/>
            </a:endParaRPr>
          </a:p>
          <a:p>
            <a:pPr marL="110489" algn="l">
              <a:spcBef>
                <a:spcPts val="615"/>
              </a:spcBef>
            </a:pPr>
            <a:r>
              <a:rPr lang="en-IN" spc="125" dirty="0" err="1">
                <a:latin typeface="Times New Roman"/>
                <a:cs typeface="Times New Roman"/>
              </a:rPr>
              <a:t>Ch.Monish</a:t>
            </a:r>
            <a:r>
              <a:rPr lang="en-IN" spc="15" dirty="0">
                <a:latin typeface="Times New Roman"/>
                <a:cs typeface="Times New Roman"/>
              </a:rPr>
              <a:t> </a:t>
            </a:r>
            <a:r>
              <a:rPr lang="en-IN" spc="-10" dirty="0">
                <a:latin typeface="Times New Roman"/>
                <a:cs typeface="Times New Roman"/>
              </a:rPr>
              <a:t>Vamsi</a:t>
            </a:r>
            <a:endParaRPr lang="en-IN" dirty="0">
              <a:latin typeface="Times New Roman"/>
              <a:cs typeface="Times New Roman"/>
            </a:endParaRPr>
          </a:p>
        </p:txBody>
      </p:sp>
      <p:sp>
        <p:nvSpPr>
          <p:cNvPr id="11" name="TextBox 10">
            <a:extLst>
              <a:ext uri="{FF2B5EF4-FFF2-40B4-BE49-F238E27FC236}">
                <a16:creationId xmlns:a16="http://schemas.microsoft.com/office/drawing/2014/main" id="{0583F8F6-FC1A-6685-1347-B876F9D35884}"/>
              </a:ext>
            </a:extLst>
          </p:cNvPr>
          <p:cNvSpPr txBox="1"/>
          <p:nvPr/>
        </p:nvSpPr>
        <p:spPr>
          <a:xfrm>
            <a:off x="2722811" y="3580259"/>
            <a:ext cx="2918335" cy="1938992"/>
          </a:xfrm>
          <a:prstGeom prst="rect">
            <a:avLst/>
          </a:prstGeom>
          <a:noFill/>
        </p:spPr>
        <p:txBody>
          <a:bodyPr wrap="square">
            <a:spAutoFit/>
          </a:bodyPr>
          <a:lstStyle/>
          <a:p>
            <a:pPr marL="13335">
              <a:lnSpc>
                <a:spcPct val="100000"/>
              </a:lnSpc>
              <a:spcBef>
                <a:spcPts val="715"/>
              </a:spcBef>
            </a:pPr>
            <a:r>
              <a:rPr lang="pt-BR" sz="2000" dirty="0">
                <a:latin typeface="Times New Roman"/>
                <a:cs typeface="Times New Roman"/>
              </a:rPr>
              <a:t>:</a:t>
            </a:r>
            <a:r>
              <a:rPr lang="pt-BR" sz="2000" spc="-20" dirty="0">
                <a:latin typeface="Times New Roman"/>
                <a:cs typeface="Times New Roman"/>
              </a:rPr>
              <a:t> </a:t>
            </a:r>
            <a:r>
              <a:rPr lang="pt-BR" sz="2000" spc="-10" dirty="0">
                <a:latin typeface="Times New Roman"/>
                <a:cs typeface="Times New Roman"/>
              </a:rPr>
              <a:t>22X41A4409</a:t>
            </a:r>
            <a:endParaRPr lang="pt-BR" sz="2000" dirty="0">
              <a:latin typeface="Times New Roman"/>
              <a:cs typeface="Times New Roman"/>
            </a:endParaRPr>
          </a:p>
          <a:p>
            <a:pPr marL="12700">
              <a:lnSpc>
                <a:spcPct val="100000"/>
              </a:lnSpc>
              <a:spcBef>
                <a:spcPts val="615"/>
              </a:spcBef>
            </a:pPr>
            <a:r>
              <a:rPr lang="pt-BR" sz="2000" dirty="0">
                <a:latin typeface="Times New Roman"/>
                <a:cs typeface="Times New Roman"/>
              </a:rPr>
              <a:t>:</a:t>
            </a:r>
            <a:r>
              <a:rPr lang="pt-BR" sz="2000" spc="-20" dirty="0">
                <a:latin typeface="Times New Roman"/>
                <a:cs typeface="Times New Roman"/>
              </a:rPr>
              <a:t> </a:t>
            </a:r>
            <a:r>
              <a:rPr lang="pt-BR" sz="2000" spc="-10" dirty="0">
                <a:latin typeface="Times New Roman"/>
                <a:cs typeface="Times New Roman"/>
              </a:rPr>
              <a:t>22X41A4451</a:t>
            </a:r>
            <a:endParaRPr lang="pt-BR" sz="2000" dirty="0">
              <a:latin typeface="Times New Roman"/>
              <a:cs typeface="Times New Roman"/>
            </a:endParaRPr>
          </a:p>
          <a:p>
            <a:pPr marL="61594">
              <a:lnSpc>
                <a:spcPct val="100000"/>
              </a:lnSpc>
              <a:spcBef>
                <a:spcPts val="615"/>
              </a:spcBef>
            </a:pPr>
            <a:r>
              <a:rPr lang="pt-BR" sz="2000" dirty="0">
                <a:latin typeface="Times New Roman"/>
                <a:cs typeface="Times New Roman"/>
              </a:rPr>
              <a:t>:</a:t>
            </a:r>
            <a:r>
              <a:rPr lang="pt-BR" sz="2000" spc="-20" dirty="0">
                <a:latin typeface="Times New Roman"/>
                <a:cs typeface="Times New Roman"/>
              </a:rPr>
              <a:t> </a:t>
            </a:r>
            <a:r>
              <a:rPr lang="pt-BR" sz="2000" spc="-10" dirty="0">
                <a:latin typeface="Times New Roman"/>
                <a:cs typeface="Times New Roman"/>
              </a:rPr>
              <a:t>22X41A4405</a:t>
            </a:r>
            <a:endParaRPr lang="pt-BR" sz="2000" dirty="0">
              <a:latin typeface="Times New Roman"/>
              <a:cs typeface="Times New Roman"/>
            </a:endParaRPr>
          </a:p>
          <a:p>
            <a:pPr marL="34925">
              <a:lnSpc>
                <a:spcPct val="100000"/>
              </a:lnSpc>
              <a:spcBef>
                <a:spcPts val="615"/>
              </a:spcBef>
            </a:pPr>
            <a:r>
              <a:rPr lang="pt-BR" sz="2000" dirty="0">
                <a:latin typeface="Times New Roman"/>
                <a:cs typeface="Times New Roman"/>
              </a:rPr>
              <a:t>:</a:t>
            </a:r>
            <a:r>
              <a:rPr lang="pt-BR" sz="2000" spc="-20" dirty="0">
                <a:latin typeface="Times New Roman"/>
                <a:cs typeface="Times New Roman"/>
              </a:rPr>
              <a:t> </a:t>
            </a:r>
            <a:r>
              <a:rPr lang="pt-BR" sz="2000" spc="-10" dirty="0">
                <a:latin typeface="Times New Roman"/>
                <a:cs typeface="Times New Roman"/>
              </a:rPr>
              <a:t>22X41A4404</a:t>
            </a:r>
            <a:endParaRPr lang="pt-BR" sz="2000" dirty="0">
              <a:latin typeface="Times New Roman"/>
              <a:cs typeface="Times New Roman"/>
            </a:endParaRPr>
          </a:p>
          <a:p>
            <a:pPr marL="34925">
              <a:lnSpc>
                <a:spcPct val="100000"/>
              </a:lnSpc>
              <a:spcBef>
                <a:spcPts val="615"/>
              </a:spcBef>
            </a:pPr>
            <a:r>
              <a:rPr lang="pt-BR" sz="2000" dirty="0">
                <a:latin typeface="Times New Roman"/>
                <a:cs typeface="Times New Roman"/>
              </a:rPr>
              <a:t>:</a:t>
            </a:r>
            <a:r>
              <a:rPr lang="pt-BR" sz="2000" spc="-20" dirty="0">
                <a:latin typeface="Times New Roman"/>
                <a:cs typeface="Times New Roman"/>
              </a:rPr>
              <a:t> </a:t>
            </a:r>
            <a:r>
              <a:rPr lang="pt-BR" sz="2000" spc="-10" dirty="0">
                <a:latin typeface="Times New Roman"/>
                <a:cs typeface="Times New Roman"/>
              </a:rPr>
              <a:t>22X41A4403</a:t>
            </a:r>
            <a:endParaRPr lang="pt-BR" sz="2000" dirty="0">
              <a:latin typeface="Times New Roman"/>
              <a:cs typeface="Times New Roman"/>
            </a:endParaRPr>
          </a:p>
        </p:txBody>
      </p:sp>
      <p:sp>
        <p:nvSpPr>
          <p:cNvPr id="13" name="TextBox 12">
            <a:extLst>
              <a:ext uri="{FF2B5EF4-FFF2-40B4-BE49-F238E27FC236}">
                <a16:creationId xmlns:a16="http://schemas.microsoft.com/office/drawing/2014/main" id="{770564B8-E410-4AA3-DAAB-C3961EBE0584}"/>
              </a:ext>
            </a:extLst>
          </p:cNvPr>
          <p:cNvSpPr txBox="1"/>
          <p:nvPr/>
        </p:nvSpPr>
        <p:spPr>
          <a:xfrm>
            <a:off x="7114191" y="3366007"/>
            <a:ext cx="6104020" cy="369332"/>
          </a:xfrm>
          <a:prstGeom prst="rect">
            <a:avLst/>
          </a:prstGeom>
          <a:noFill/>
        </p:spPr>
        <p:txBody>
          <a:bodyPr wrap="square">
            <a:spAutoFit/>
          </a:bodyPr>
          <a:lstStyle/>
          <a:p>
            <a:pPr marL="12700" algn="l">
              <a:lnSpc>
                <a:spcPct val="100000"/>
              </a:lnSpc>
              <a:spcBef>
                <a:spcPts val="114"/>
              </a:spcBef>
            </a:pPr>
            <a:r>
              <a:rPr lang="en-IN" b="1" spc="55" dirty="0">
                <a:solidFill>
                  <a:schemeClr val="tx1"/>
                </a:solidFill>
                <a:latin typeface="Times New Roman"/>
                <a:cs typeface="Times New Roman"/>
              </a:rPr>
              <a:t>GUIDE:</a:t>
            </a:r>
            <a:endParaRPr lang="en-IN" dirty="0">
              <a:solidFill>
                <a:schemeClr val="tx1"/>
              </a:solidFill>
              <a:latin typeface="Times New Roman"/>
              <a:cs typeface="Times New Roman"/>
            </a:endParaRPr>
          </a:p>
        </p:txBody>
      </p:sp>
      <p:sp>
        <p:nvSpPr>
          <p:cNvPr id="15" name="TextBox 14">
            <a:extLst>
              <a:ext uri="{FF2B5EF4-FFF2-40B4-BE49-F238E27FC236}">
                <a16:creationId xmlns:a16="http://schemas.microsoft.com/office/drawing/2014/main" id="{6F408DB3-04C1-078C-7BD2-4868CDD7C045}"/>
              </a:ext>
            </a:extLst>
          </p:cNvPr>
          <p:cNvSpPr txBox="1"/>
          <p:nvPr/>
        </p:nvSpPr>
        <p:spPr>
          <a:xfrm>
            <a:off x="7114191" y="3735339"/>
            <a:ext cx="6793830" cy="790024"/>
          </a:xfrm>
          <a:prstGeom prst="rect">
            <a:avLst/>
          </a:prstGeom>
          <a:noFill/>
        </p:spPr>
        <p:txBody>
          <a:bodyPr wrap="square">
            <a:spAutoFit/>
          </a:bodyPr>
          <a:lstStyle/>
          <a:p>
            <a:pPr marL="12700" marR="5080">
              <a:lnSpc>
                <a:spcPct val="115500"/>
              </a:lnSpc>
              <a:spcBef>
                <a:spcPts val="100"/>
              </a:spcBef>
            </a:pPr>
            <a:r>
              <a:rPr lang="en-IN" sz="2000" spc="125" dirty="0">
                <a:latin typeface="Times New Roman"/>
                <a:cs typeface="Times New Roman"/>
              </a:rPr>
              <a:t>Ch.</a:t>
            </a:r>
            <a:r>
              <a:rPr lang="en-IN" sz="2000" spc="55" dirty="0">
                <a:latin typeface="Times New Roman"/>
                <a:cs typeface="Times New Roman"/>
              </a:rPr>
              <a:t> </a:t>
            </a:r>
            <a:r>
              <a:rPr lang="en-IN" sz="2000" dirty="0">
                <a:latin typeface="Times New Roman"/>
                <a:cs typeface="Times New Roman"/>
              </a:rPr>
              <a:t>Sai</a:t>
            </a:r>
            <a:r>
              <a:rPr lang="en-IN" sz="2000" spc="55" dirty="0">
                <a:latin typeface="Times New Roman"/>
                <a:cs typeface="Times New Roman"/>
              </a:rPr>
              <a:t> </a:t>
            </a:r>
            <a:r>
              <a:rPr lang="en-IN" sz="2000" dirty="0">
                <a:latin typeface="Times New Roman"/>
                <a:cs typeface="Times New Roman"/>
              </a:rPr>
              <a:t>Siva</a:t>
            </a:r>
            <a:r>
              <a:rPr lang="en-IN" sz="2000" spc="55" dirty="0">
                <a:latin typeface="Times New Roman"/>
                <a:cs typeface="Times New Roman"/>
              </a:rPr>
              <a:t> </a:t>
            </a:r>
            <a:r>
              <a:rPr lang="en-IN" sz="2000" spc="125" dirty="0">
                <a:latin typeface="Times New Roman"/>
                <a:cs typeface="Times New Roman"/>
              </a:rPr>
              <a:t>Durga</a:t>
            </a:r>
          </a:p>
          <a:p>
            <a:pPr marL="12700" marR="5080">
              <a:lnSpc>
                <a:spcPct val="115500"/>
              </a:lnSpc>
              <a:spcBef>
                <a:spcPts val="100"/>
              </a:spcBef>
            </a:pPr>
            <a:r>
              <a:rPr lang="en-IN" sz="2000" spc="70" dirty="0">
                <a:latin typeface="Times New Roman"/>
                <a:cs typeface="Times New Roman"/>
              </a:rPr>
              <a:t>(Assistant</a:t>
            </a:r>
            <a:r>
              <a:rPr lang="en-IN" sz="2000" spc="40" dirty="0">
                <a:latin typeface="Times New Roman"/>
                <a:cs typeface="Times New Roman"/>
              </a:rPr>
              <a:t> </a:t>
            </a:r>
            <a:r>
              <a:rPr lang="en-IN" sz="2000" spc="45" dirty="0">
                <a:latin typeface="Times New Roman"/>
                <a:cs typeface="Times New Roman"/>
              </a:rPr>
              <a:t>Professor)</a:t>
            </a:r>
          </a:p>
        </p:txBody>
      </p:sp>
      <p:sp>
        <p:nvSpPr>
          <p:cNvPr id="19" name="TextBox 18">
            <a:extLst>
              <a:ext uri="{FF2B5EF4-FFF2-40B4-BE49-F238E27FC236}">
                <a16:creationId xmlns:a16="http://schemas.microsoft.com/office/drawing/2014/main" id="{070149D5-B481-3586-D068-C55219F44C47}"/>
              </a:ext>
            </a:extLst>
          </p:cNvPr>
          <p:cNvSpPr txBox="1"/>
          <p:nvPr/>
        </p:nvSpPr>
        <p:spPr>
          <a:xfrm>
            <a:off x="477222" y="1724959"/>
            <a:ext cx="9118191" cy="707886"/>
          </a:xfrm>
          <a:prstGeom prst="rect">
            <a:avLst/>
          </a:prstGeom>
          <a:noFill/>
        </p:spPr>
        <p:txBody>
          <a:bodyPr wrap="square" rtlCol="0">
            <a:spAutoFit/>
          </a:bodyPr>
          <a:lstStyle/>
          <a:p>
            <a:r>
              <a:rPr lang="en-US" sz="2000" dirty="0">
                <a:latin typeface="Times New Roman" panose="02020603050405020304" pitchFamily="18" charset="0"/>
                <a:cs typeface="Times New Roman" panose="02020603050405020304" pitchFamily="18" charset="0"/>
              </a:rPr>
              <a:t>Explainable Dual-feature Fusion Framework for Early Identification of Neonatal Sleep Apnea Diagnosis using Overnight Physiological Time-Series</a:t>
            </a:r>
            <a:endParaRPr lang="en-IN" sz="2000" dirty="0">
              <a:latin typeface="Times New Roman" panose="02020603050405020304" pitchFamily="18" charset="0"/>
              <a:cs typeface="Times New Roman" panose="02020603050405020304" pitchFamily="18" charset="0"/>
            </a:endParaRPr>
          </a:p>
        </p:txBody>
      </p:sp>
      <p:sp>
        <p:nvSpPr>
          <p:cNvPr id="21" name="TextBox 20">
            <a:extLst>
              <a:ext uri="{FF2B5EF4-FFF2-40B4-BE49-F238E27FC236}">
                <a16:creationId xmlns:a16="http://schemas.microsoft.com/office/drawing/2014/main" id="{7F67F12E-1FCF-580A-2299-202E5E9D8114}"/>
              </a:ext>
            </a:extLst>
          </p:cNvPr>
          <p:cNvSpPr txBox="1"/>
          <p:nvPr/>
        </p:nvSpPr>
        <p:spPr>
          <a:xfrm>
            <a:off x="4942132" y="342233"/>
            <a:ext cx="3680758" cy="584775"/>
          </a:xfrm>
          <a:prstGeom prst="rect">
            <a:avLst/>
          </a:prstGeom>
          <a:noFill/>
        </p:spPr>
        <p:txBody>
          <a:bodyPr wrap="square" rtlCol="0">
            <a:spAutoFit/>
          </a:bodyPr>
          <a:lstStyle/>
          <a:p>
            <a:pPr algn="ctr"/>
            <a:r>
              <a:rPr lang="en-IN" sz="3200" dirty="0">
                <a:latin typeface="Times New Roman" panose="02020603050405020304" pitchFamily="18" charset="0"/>
                <a:cs typeface="Times New Roman" panose="02020603050405020304" pitchFamily="18" charset="0"/>
              </a:rPr>
              <a:t>FINAL REVIEW</a:t>
            </a:r>
          </a:p>
        </p:txBody>
      </p:sp>
    </p:spTree>
    <p:extLst>
      <p:ext uri="{BB962C8B-B14F-4D97-AF65-F5344CB8AC3E}">
        <p14:creationId xmlns:p14="http://schemas.microsoft.com/office/powerpoint/2010/main" val="229271112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51AAF1-1EFA-1FB8-924D-CB8A976AC363}"/>
              </a:ext>
            </a:extLst>
          </p:cNvPr>
          <p:cNvSpPr>
            <a:spLocks noGrp="1"/>
          </p:cNvSpPr>
          <p:nvPr>
            <p:ph type="title"/>
          </p:nvPr>
        </p:nvSpPr>
        <p:spPr/>
        <p:txBody>
          <a:bodyPr/>
          <a:lstStyle/>
          <a:p>
            <a:r>
              <a:rPr lang="en-US" dirty="0">
                <a:solidFill>
                  <a:schemeClr val="tx1"/>
                </a:solidFill>
                <a:latin typeface="Times New Roman" panose="02020603050405020304" pitchFamily="18" charset="0"/>
                <a:cs typeface="Times New Roman" panose="02020603050405020304" pitchFamily="18" charset="0"/>
              </a:rPr>
              <a:t>CONTENTS</a:t>
            </a:r>
            <a:endParaRPr lang="en-IN" dirty="0">
              <a:solidFill>
                <a:schemeClr val="tx1"/>
              </a:solidFill>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30E95558-4AC3-4F92-7FC0-1369B0BD05B0}"/>
              </a:ext>
            </a:extLst>
          </p:cNvPr>
          <p:cNvSpPr>
            <a:spLocks noGrp="1"/>
          </p:cNvSpPr>
          <p:nvPr>
            <p:ph idx="1"/>
          </p:nvPr>
        </p:nvSpPr>
        <p:spPr>
          <a:xfrm>
            <a:off x="677334" y="1554480"/>
            <a:ext cx="8596668" cy="4256693"/>
          </a:xfrm>
        </p:spPr>
        <p:txBody>
          <a:bodyPr>
            <a:normAutofit fontScale="85000" lnSpcReduction="20000"/>
          </a:bodyPr>
          <a:lstStyle/>
          <a:p>
            <a:pPr>
              <a:buClr>
                <a:schemeClr val="tx1"/>
              </a:buClr>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Abstract</a:t>
            </a:r>
          </a:p>
          <a:p>
            <a:pPr>
              <a:buClr>
                <a:schemeClr val="tx1"/>
              </a:buClr>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Introduction</a:t>
            </a:r>
          </a:p>
          <a:p>
            <a:pPr>
              <a:buClr>
                <a:schemeClr val="tx1"/>
              </a:buClr>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Literature study</a:t>
            </a:r>
          </a:p>
          <a:p>
            <a:pPr>
              <a:buClr>
                <a:schemeClr val="tx1"/>
              </a:buClr>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Existing Problem</a:t>
            </a:r>
          </a:p>
          <a:p>
            <a:pPr>
              <a:buClr>
                <a:schemeClr val="tx1"/>
              </a:buClr>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Research Objective</a:t>
            </a:r>
          </a:p>
          <a:p>
            <a:pPr>
              <a:buClr>
                <a:schemeClr val="tx1"/>
              </a:buClr>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Proposed Methodology</a:t>
            </a:r>
          </a:p>
          <a:p>
            <a:pPr>
              <a:buClr>
                <a:schemeClr val="tx1"/>
              </a:buClr>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Results</a:t>
            </a:r>
          </a:p>
          <a:p>
            <a:pPr>
              <a:buClr>
                <a:schemeClr val="tx1"/>
              </a:buClr>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Discussions</a:t>
            </a:r>
          </a:p>
          <a:p>
            <a:pPr>
              <a:buClr>
                <a:schemeClr val="tx1"/>
              </a:buClr>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Conclusion</a:t>
            </a:r>
          </a:p>
          <a:p>
            <a:pPr>
              <a:buClr>
                <a:schemeClr val="tx1"/>
              </a:buClr>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References</a:t>
            </a:r>
          </a:p>
          <a:p>
            <a:pPr>
              <a:buClr>
                <a:schemeClr val="tx1"/>
              </a:buClr>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Paper Publication</a:t>
            </a:r>
          </a:p>
          <a:p>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99220926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E8FF40BC-5614-B795-1DEB-37849A588679}"/>
              </a:ext>
            </a:extLst>
          </p:cNvPr>
          <p:cNvSpPr txBox="1"/>
          <p:nvPr/>
        </p:nvSpPr>
        <p:spPr>
          <a:xfrm>
            <a:off x="501316" y="1226727"/>
            <a:ext cx="9013074" cy="3693319"/>
          </a:xfrm>
          <a:prstGeom prst="rect">
            <a:avLst/>
          </a:prstGeom>
          <a:noFill/>
        </p:spPr>
        <p:txBody>
          <a:bodyPr wrap="square">
            <a:spAutoFit/>
          </a:bodyPr>
          <a:lstStyle/>
          <a:p>
            <a:pPr algn="just"/>
            <a:r>
              <a:rPr lang="en-IN" dirty="0">
                <a:latin typeface="Times New Roman" panose="02020603050405020304" pitchFamily="18" charset="0"/>
                <a:cs typeface="Times New Roman" panose="02020603050405020304" pitchFamily="18" charset="0"/>
              </a:rPr>
              <a:t>Sleep </a:t>
            </a:r>
            <a:r>
              <a:rPr lang="en-IN" dirty="0" err="1">
                <a:latin typeface="Times New Roman" panose="02020603050405020304" pitchFamily="18" charset="0"/>
                <a:cs typeface="Times New Roman" panose="02020603050405020304" pitchFamily="18" charset="0"/>
              </a:rPr>
              <a:t>apnea</a:t>
            </a:r>
            <a:r>
              <a:rPr lang="en-IN" dirty="0">
                <a:latin typeface="Times New Roman" panose="02020603050405020304" pitchFamily="18" charset="0"/>
                <a:cs typeface="Times New Roman" panose="02020603050405020304" pitchFamily="18" charset="0"/>
              </a:rPr>
              <a:t> (SA) is the most predominant breathing sleep issue caused by immature control of breathing of neonates. Polysomnography (PSG) approach is the best practical way to diagnose SA and numerous researchers have been developed machine learning (ML) based </a:t>
            </a:r>
            <a:r>
              <a:rPr lang="en-IN" dirty="0" err="1">
                <a:latin typeface="Times New Roman" panose="02020603050405020304" pitchFamily="18" charset="0"/>
                <a:cs typeface="Times New Roman" panose="02020603050405020304" pitchFamily="18" charset="0"/>
              </a:rPr>
              <a:t>apnea</a:t>
            </a:r>
            <a:r>
              <a:rPr lang="en-IN" dirty="0">
                <a:latin typeface="Times New Roman" panose="02020603050405020304" pitchFamily="18" charset="0"/>
                <a:cs typeface="Times New Roman" panose="02020603050405020304" pitchFamily="18" charset="0"/>
              </a:rPr>
              <a:t> detection frameworks. However, those studies failed to detect </a:t>
            </a:r>
            <a:r>
              <a:rPr lang="en-IN" dirty="0" err="1">
                <a:latin typeface="Times New Roman" panose="02020603050405020304" pitchFamily="18" charset="0"/>
                <a:cs typeface="Times New Roman" panose="02020603050405020304" pitchFamily="18" charset="0"/>
              </a:rPr>
              <a:t>apnea</a:t>
            </a:r>
            <a:r>
              <a:rPr lang="en-IN" dirty="0">
                <a:latin typeface="Times New Roman" panose="02020603050405020304" pitchFamily="18" charset="0"/>
                <a:cs typeface="Times New Roman" panose="02020603050405020304" pitchFamily="18" charset="0"/>
              </a:rPr>
              <a:t> in an effective way due to architectural constraints. Although, deep learning (DL) based neural networks have been used to capture efficient Electrocardiogram (ECG) related features, it offered high complexity in detection. To address the issues of high complexity, poor feature representation, inaccurate detection this proposed model developed a novel explainable dual-feature fusion assisted transformer model. This study initialized with preterm infant cardio respiratory signals database collection and are pre-processed for enhancing data quality. Further, ECG and respiratory signal features are extracted using dual-feature fusion temporal convolutional network with Bi-directional GRU (ADTCN-Bi-GRU) model which effectively improve the representation of features.</a:t>
            </a:r>
            <a:endParaRPr lang="en-US" sz="1800" dirty="0">
              <a:latin typeface="Times New Roman" panose="02020603050405020304" pitchFamily="18" charset="0"/>
              <a:cs typeface="Times New Roman" panose="02020603050405020304" pitchFamily="18" charset="0"/>
            </a:endParaRPr>
          </a:p>
        </p:txBody>
      </p:sp>
      <p:sp>
        <p:nvSpPr>
          <p:cNvPr id="5" name="TextBox 4">
            <a:extLst>
              <a:ext uri="{FF2B5EF4-FFF2-40B4-BE49-F238E27FC236}">
                <a16:creationId xmlns:a16="http://schemas.microsoft.com/office/drawing/2014/main" id="{0B9C12AA-6334-4E3D-D091-2C5B1FFC3DDF}"/>
              </a:ext>
            </a:extLst>
          </p:cNvPr>
          <p:cNvSpPr txBox="1"/>
          <p:nvPr/>
        </p:nvSpPr>
        <p:spPr>
          <a:xfrm>
            <a:off x="4415591" y="460627"/>
            <a:ext cx="6104020" cy="584775"/>
          </a:xfrm>
          <a:prstGeom prst="rect">
            <a:avLst/>
          </a:prstGeom>
          <a:noFill/>
        </p:spPr>
        <p:txBody>
          <a:bodyPr wrap="square">
            <a:spAutoFit/>
          </a:bodyPr>
          <a:lstStyle/>
          <a:p>
            <a:r>
              <a:rPr lang="en-IN" sz="3200" b="1" u="sng" spc="-10" dirty="0">
                <a:solidFill>
                  <a:schemeClr val="tx1"/>
                </a:solidFill>
                <a:latin typeface="Times New Roman" panose="02020603050405020304" pitchFamily="18" charset="0"/>
                <a:cs typeface="Times New Roman" panose="02020603050405020304" pitchFamily="18" charset="0"/>
              </a:rPr>
              <a:t>ABSTRACT</a:t>
            </a:r>
            <a:endParaRPr lang="en-IN" sz="32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07746969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3DAAA270-2DC7-4C67-F8CA-AE05A448C162}"/>
              </a:ext>
            </a:extLst>
          </p:cNvPr>
          <p:cNvSpPr txBox="1"/>
          <p:nvPr/>
        </p:nvSpPr>
        <p:spPr>
          <a:xfrm>
            <a:off x="570271" y="1150374"/>
            <a:ext cx="8760542" cy="4247317"/>
          </a:xfrm>
          <a:prstGeom prst="rect">
            <a:avLst/>
          </a:prstGeom>
          <a:noFill/>
        </p:spPr>
        <p:txBody>
          <a:bodyPr wrap="square" rtlCol="0">
            <a:spAutoFit/>
          </a:bodyPr>
          <a:lstStyle/>
          <a:p>
            <a:pPr algn="just"/>
            <a:r>
              <a:rPr lang="en-IN" dirty="0">
                <a:latin typeface="Times New Roman" panose="02020603050405020304" pitchFamily="18" charset="0"/>
                <a:cs typeface="Times New Roman" panose="02020603050405020304" pitchFamily="18" charset="0"/>
              </a:rPr>
              <a:t>Further, DL based optimized residual dilated depth-wise squeeze absolute transformer (ORD</a:t>
            </a:r>
            <a:r>
              <a:rPr lang="en-IN" baseline="30000" dirty="0">
                <a:latin typeface="Times New Roman" panose="02020603050405020304" pitchFamily="18" charset="0"/>
                <a:cs typeface="Times New Roman" panose="02020603050405020304" pitchFamily="18" charset="0"/>
              </a:rPr>
              <a:t>2</a:t>
            </a:r>
            <a:r>
              <a:rPr lang="en-IN" dirty="0">
                <a:latin typeface="Times New Roman" panose="02020603050405020304" pitchFamily="18" charset="0"/>
                <a:cs typeface="Times New Roman" panose="02020603050405020304" pitchFamily="18" charset="0"/>
              </a:rPr>
              <a:t>S-ATrans) model is proposed to classify the </a:t>
            </a:r>
            <a:r>
              <a:rPr lang="en-IN" dirty="0" err="1">
                <a:latin typeface="Times New Roman" panose="02020603050405020304" pitchFamily="18" charset="0"/>
                <a:cs typeface="Times New Roman" panose="02020603050405020304" pitchFamily="18" charset="0"/>
              </a:rPr>
              <a:t>apnea</a:t>
            </a:r>
            <a:r>
              <a:rPr lang="en-IN" dirty="0">
                <a:latin typeface="Times New Roman" panose="02020603050405020304" pitchFamily="18" charset="0"/>
                <a:cs typeface="Times New Roman" panose="02020603050405020304" pitchFamily="18" charset="0"/>
              </a:rPr>
              <a:t> in neonates. Moreover, to reduce the complexity and tune the parameters of transformer model, an improved sinusoidal whale optimization (ISWOA) is developed that significantly intended for faster convergence. In order to enhance interpretability, Shapely Additive Explanations (SHAP) is employed which offer significant improvement in detection. Experimental findings demonstrate the effectiveness of proposed approach by attaining 98.63% of accuracy, precision of 98.35%, sensitivity of 98.47%, specificity of 98.56% and F1-score of 98.46% accordingly. Moreover, optimization’s fitness value analysis shown faster convergence which reduces model’s complexity. </a:t>
            </a:r>
          </a:p>
          <a:p>
            <a:pPr algn="just"/>
            <a:endParaRPr lang="en-IN" dirty="0">
              <a:latin typeface="Times New Roman" panose="02020603050405020304" pitchFamily="18" charset="0"/>
              <a:cs typeface="Times New Roman" panose="02020603050405020304" pitchFamily="18" charset="0"/>
            </a:endParaRPr>
          </a:p>
          <a:p>
            <a:pPr algn="just"/>
            <a:r>
              <a:rPr lang="en-IN" b="1" dirty="0">
                <a:latin typeface="Times New Roman" panose="02020603050405020304" pitchFamily="18" charset="0"/>
                <a:cs typeface="Times New Roman" panose="02020603050405020304" pitchFamily="18" charset="0"/>
              </a:rPr>
              <a:t>Keywords: </a:t>
            </a:r>
            <a:r>
              <a:rPr lang="en-IN" dirty="0">
                <a:latin typeface="Times New Roman" panose="02020603050405020304" pitchFamily="18" charset="0"/>
                <a:cs typeface="Times New Roman" panose="02020603050405020304" pitchFamily="18" charset="0"/>
              </a:rPr>
              <a:t>Sleep </a:t>
            </a:r>
            <a:r>
              <a:rPr lang="en-IN" dirty="0" err="1">
                <a:latin typeface="Times New Roman" panose="02020603050405020304" pitchFamily="18" charset="0"/>
                <a:cs typeface="Times New Roman" panose="02020603050405020304" pitchFamily="18" charset="0"/>
              </a:rPr>
              <a:t>apnea</a:t>
            </a:r>
            <a:r>
              <a:rPr lang="en-IN" dirty="0">
                <a:latin typeface="Times New Roman" panose="02020603050405020304" pitchFamily="18" charset="0"/>
                <a:cs typeface="Times New Roman" panose="02020603050405020304" pitchFamily="18" charset="0"/>
              </a:rPr>
              <a:t> diagnosis, absolute transformer, sinusoidal whale optimization, Electrocardiogram, Polysomnography.</a:t>
            </a:r>
          </a:p>
          <a:p>
            <a:pPr algn="just"/>
            <a:endParaRPr lang="en-IN" dirty="0"/>
          </a:p>
          <a:p>
            <a:endParaRPr lang="en-IN" dirty="0"/>
          </a:p>
        </p:txBody>
      </p:sp>
    </p:spTree>
    <p:extLst>
      <p:ext uri="{BB962C8B-B14F-4D97-AF65-F5344CB8AC3E}">
        <p14:creationId xmlns:p14="http://schemas.microsoft.com/office/powerpoint/2010/main" val="144979411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4D8CD0-17F9-8CED-1CA4-319A7BA000B8}"/>
              </a:ext>
            </a:extLst>
          </p:cNvPr>
          <p:cNvSpPr>
            <a:spLocks noGrp="1"/>
          </p:cNvSpPr>
          <p:nvPr>
            <p:ph type="title"/>
          </p:nvPr>
        </p:nvSpPr>
        <p:spPr/>
        <p:txBody>
          <a:bodyPr/>
          <a:lstStyle/>
          <a:p>
            <a:pPr algn="ctr"/>
            <a:r>
              <a:rPr lang="en-IN" b="1" u="sng" dirty="0">
                <a:solidFill>
                  <a:schemeClr val="tx1"/>
                </a:solidFill>
                <a:latin typeface="Times New Roman" panose="02020603050405020304" pitchFamily="18" charset="0"/>
                <a:cs typeface="Times New Roman" panose="02020603050405020304" pitchFamily="18" charset="0"/>
              </a:rPr>
              <a:t>Introduction</a:t>
            </a:r>
          </a:p>
        </p:txBody>
      </p:sp>
      <p:sp>
        <p:nvSpPr>
          <p:cNvPr id="3" name="Content Placeholder 2">
            <a:extLst>
              <a:ext uri="{FF2B5EF4-FFF2-40B4-BE49-F238E27FC236}">
                <a16:creationId xmlns:a16="http://schemas.microsoft.com/office/drawing/2014/main" id="{C5444522-5E9A-F51C-F169-C7AF7A7AF5BA}"/>
              </a:ext>
            </a:extLst>
          </p:cNvPr>
          <p:cNvSpPr>
            <a:spLocks noGrp="1"/>
          </p:cNvSpPr>
          <p:nvPr>
            <p:ph idx="1"/>
          </p:nvPr>
        </p:nvSpPr>
        <p:spPr>
          <a:xfrm>
            <a:off x="755992" y="1488613"/>
            <a:ext cx="9361402" cy="4759787"/>
          </a:xfrm>
        </p:spPr>
        <p:txBody>
          <a:bodyPr>
            <a:noAutofit/>
          </a:bodyPr>
          <a:lstStyle/>
          <a:p>
            <a:pPr algn="just">
              <a:buClr>
                <a:schemeClr val="tx1"/>
              </a:buClr>
              <a:buFont typeface="Wingdings" panose="05000000000000000000" pitchFamily="2" charset="2"/>
              <a:buChar char="§"/>
            </a:pPr>
            <a:r>
              <a:rPr lang="en-US" dirty="0">
                <a:latin typeface="Times New Roman" panose="02020603050405020304" pitchFamily="18" charset="0"/>
                <a:cs typeface="Times New Roman" panose="02020603050405020304" pitchFamily="18" charset="0"/>
              </a:rPr>
              <a:t>Sleep apnea is a common and serious sleep disorder that causes repeated interruptions in breathing during sleep.</a:t>
            </a:r>
          </a:p>
          <a:p>
            <a:pPr algn="just">
              <a:buClr>
                <a:schemeClr val="tx1"/>
              </a:buClr>
              <a:buFont typeface="Wingdings" panose="05000000000000000000" pitchFamily="2" charset="2"/>
              <a:buChar char="§"/>
            </a:pPr>
            <a:r>
              <a:rPr lang="en-US" dirty="0">
                <a:latin typeface="Times New Roman" panose="02020603050405020304" pitchFamily="18" charset="0"/>
                <a:cs typeface="Times New Roman" panose="02020603050405020304" pitchFamily="18" charset="0"/>
              </a:rPr>
              <a:t>It can lead to severe health issues such as heart problems, fatigue, poor concentration, and reduced quality of life.</a:t>
            </a:r>
          </a:p>
          <a:p>
            <a:pPr algn="just">
              <a:buClr>
                <a:schemeClr val="tx1"/>
              </a:buClr>
              <a:buFont typeface="Wingdings" panose="05000000000000000000" pitchFamily="2" charset="2"/>
              <a:buChar char="§"/>
            </a:pPr>
            <a:r>
              <a:rPr lang="en-US" dirty="0">
                <a:latin typeface="Times New Roman" panose="02020603050405020304" pitchFamily="18" charset="0"/>
                <a:cs typeface="Times New Roman" panose="02020603050405020304" pitchFamily="18" charset="0"/>
              </a:rPr>
              <a:t>Early detection of sleep apnea is essential to prevent long-term health complications.</a:t>
            </a:r>
          </a:p>
          <a:p>
            <a:pPr algn="just">
              <a:buClr>
                <a:schemeClr val="tx1"/>
              </a:buClr>
              <a:buFont typeface="Wingdings" panose="05000000000000000000" pitchFamily="2" charset="2"/>
              <a:buChar char="§"/>
            </a:pPr>
            <a:r>
              <a:rPr lang="en-US" dirty="0">
                <a:latin typeface="Times New Roman" panose="02020603050405020304" pitchFamily="18" charset="0"/>
                <a:cs typeface="Times New Roman" panose="02020603050405020304" pitchFamily="18" charset="0"/>
              </a:rPr>
              <a:t>Detecting sleep apnea in pre-term infants is particularly challenging due to their delicate health and irregular breathing patterns.</a:t>
            </a:r>
          </a:p>
          <a:p>
            <a:pPr algn="just">
              <a:buClr>
                <a:schemeClr val="tx1"/>
              </a:buClr>
              <a:buFont typeface="Wingdings" panose="05000000000000000000" pitchFamily="2" charset="2"/>
              <a:buChar char="§"/>
            </a:pPr>
            <a:r>
              <a:rPr lang="en-US" dirty="0">
                <a:latin typeface="Times New Roman" panose="02020603050405020304" pitchFamily="18" charset="0"/>
                <a:cs typeface="Times New Roman" panose="02020603050405020304" pitchFamily="18" charset="0"/>
              </a:rPr>
              <a:t>Traditional diagnostic methods rely on Polysomnography (PSG), which monitors multiple physiological signals.</a:t>
            </a:r>
          </a:p>
          <a:p>
            <a:pPr algn="just">
              <a:buClr>
                <a:schemeClr val="tx1"/>
              </a:buClr>
              <a:buFont typeface="Wingdings" panose="05000000000000000000" pitchFamily="2" charset="2"/>
              <a:buChar char="§"/>
            </a:pPr>
            <a:r>
              <a:rPr lang="en-US" dirty="0">
                <a:latin typeface="Times New Roman" panose="02020603050405020304" pitchFamily="18" charset="0"/>
                <a:cs typeface="Times New Roman" panose="02020603050405020304" pitchFamily="18" charset="0"/>
              </a:rPr>
              <a:t>PSG-based diagnosis is often time-consuming, expensive, and requires expert supervision.</a:t>
            </a:r>
          </a:p>
          <a:p>
            <a:pPr algn="just">
              <a:buClr>
                <a:schemeClr val="tx1"/>
              </a:buClr>
              <a:buFont typeface="Wingdings" panose="05000000000000000000" pitchFamily="2" charset="2"/>
              <a:buChar char="§"/>
            </a:pPr>
            <a:r>
              <a:rPr lang="en-US" dirty="0">
                <a:latin typeface="Times New Roman" panose="02020603050405020304" pitchFamily="18" charset="0"/>
                <a:cs typeface="Times New Roman" panose="02020603050405020304" pitchFamily="18" charset="0"/>
              </a:rPr>
              <a:t>Manual analysis of PSG signals may sometimes result in inaccurate or inconsistent outcomes.</a:t>
            </a:r>
          </a:p>
          <a:p>
            <a:pPr>
              <a:buClr>
                <a:schemeClr val="tx1"/>
              </a:buClr>
              <a:buFont typeface="Wingdings" panose="05000000000000000000" pitchFamily="2" charset="2"/>
              <a:buChar char="§"/>
            </a:pPr>
            <a:r>
              <a:rPr lang="en-US" dirty="0">
                <a:latin typeface="Times New Roman" panose="02020603050405020304" pitchFamily="18" charset="0"/>
                <a:cs typeface="Times New Roman" panose="02020603050405020304" pitchFamily="18" charset="0"/>
              </a:rPr>
              <a:t>With advancements in Artificial Intelligence, automated detection systems are becoming more efficient and reliable.</a:t>
            </a:r>
            <a:br>
              <a:rPr lang="en-US" dirty="0">
                <a:latin typeface="Times New Roman" panose="02020603050405020304" pitchFamily="18" charset="0"/>
                <a:cs typeface="Times New Roman" panose="02020603050405020304" pitchFamily="18" charset="0"/>
              </a:rPr>
            </a:br>
            <a:endParaRPr lang="en-IN" dirty="0"/>
          </a:p>
        </p:txBody>
      </p:sp>
    </p:spTree>
    <p:extLst>
      <p:ext uri="{BB962C8B-B14F-4D97-AF65-F5344CB8AC3E}">
        <p14:creationId xmlns:p14="http://schemas.microsoft.com/office/powerpoint/2010/main" val="47475354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F50D18-C7E1-DD6D-5068-99414958FB8D}"/>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E956F2DA-0F58-20F2-4C71-BBFA0A3FA80D}"/>
              </a:ext>
            </a:extLst>
          </p:cNvPr>
          <p:cNvSpPr>
            <a:spLocks noGrp="1"/>
          </p:cNvSpPr>
          <p:nvPr>
            <p:ph idx="1"/>
          </p:nvPr>
        </p:nvSpPr>
        <p:spPr>
          <a:xfrm>
            <a:off x="677334" y="1341796"/>
            <a:ext cx="8596668" cy="3880773"/>
          </a:xfrm>
        </p:spPr>
        <p:txBody>
          <a:bodyPr>
            <a:noAutofit/>
          </a:bodyPr>
          <a:lstStyle/>
          <a:p>
            <a:pPr>
              <a:buClr>
                <a:schemeClr val="tx1"/>
              </a:buClr>
              <a:buFont typeface="Wingdings" panose="05000000000000000000" pitchFamily="2" charset="2"/>
              <a:buChar char="§"/>
            </a:pPr>
            <a:r>
              <a:rPr lang="en-US" dirty="0">
                <a:solidFill>
                  <a:schemeClr val="tx1"/>
                </a:solidFill>
                <a:latin typeface="Times New Roman" panose="02020603050405020304" pitchFamily="18" charset="0"/>
                <a:cs typeface="Times New Roman" panose="02020603050405020304" pitchFamily="18" charset="0"/>
              </a:rPr>
              <a:t>Deep learning techniques have shown strong performance in analyzing complex biomedical data.</a:t>
            </a:r>
          </a:p>
          <a:p>
            <a:pPr>
              <a:buClr>
                <a:schemeClr val="tx1"/>
              </a:buClr>
              <a:buFont typeface="Wingdings" panose="05000000000000000000" pitchFamily="2" charset="2"/>
              <a:buChar char="§"/>
            </a:pPr>
            <a:r>
              <a:rPr lang="en-US" dirty="0">
                <a:solidFill>
                  <a:schemeClr val="tx1"/>
                </a:solidFill>
                <a:latin typeface="Times New Roman" panose="02020603050405020304" pitchFamily="18" charset="0"/>
                <a:cs typeface="Times New Roman" panose="02020603050405020304" pitchFamily="18" charset="0"/>
              </a:rPr>
              <a:t>Neural networks can automatically extract meaningful features from raw signals, reducing the need for manual feature engineering.</a:t>
            </a:r>
          </a:p>
          <a:p>
            <a:pPr>
              <a:buClr>
                <a:schemeClr val="tx1"/>
              </a:buClr>
              <a:buFont typeface="Wingdings" panose="05000000000000000000" pitchFamily="2" charset="2"/>
              <a:buChar char="§"/>
            </a:pPr>
            <a:r>
              <a:rPr lang="en-US" dirty="0">
                <a:solidFill>
                  <a:schemeClr val="tx1"/>
                </a:solidFill>
                <a:latin typeface="Times New Roman" panose="02020603050405020304" pitchFamily="18" charset="0"/>
                <a:cs typeface="Times New Roman" panose="02020603050405020304" pitchFamily="18" charset="0"/>
              </a:rPr>
              <a:t>This project proposes a transformer-based deep learning model for sleep apnea detection.</a:t>
            </a:r>
          </a:p>
          <a:p>
            <a:pPr>
              <a:buClr>
                <a:schemeClr val="tx1"/>
              </a:buClr>
              <a:buFont typeface="Wingdings" panose="05000000000000000000" pitchFamily="2" charset="2"/>
              <a:buChar char="§"/>
            </a:pPr>
            <a:r>
              <a:rPr lang="en-US" dirty="0">
                <a:solidFill>
                  <a:schemeClr val="tx1"/>
                </a:solidFill>
                <a:latin typeface="Times New Roman" panose="02020603050405020304" pitchFamily="18" charset="0"/>
                <a:cs typeface="Times New Roman" panose="02020603050405020304" pitchFamily="18" charset="0"/>
              </a:rPr>
              <a:t>The model uses a dual-branch fusion approach to capture both temporal and contextual features.</a:t>
            </a:r>
          </a:p>
          <a:p>
            <a:pPr>
              <a:buClr>
                <a:schemeClr val="tx1"/>
              </a:buClr>
              <a:buFont typeface="Wingdings" panose="05000000000000000000" pitchFamily="2" charset="2"/>
              <a:buChar char="§"/>
            </a:pPr>
            <a:r>
              <a:rPr lang="en-US" dirty="0">
                <a:solidFill>
                  <a:schemeClr val="tx1"/>
                </a:solidFill>
                <a:latin typeface="Times New Roman" panose="02020603050405020304" pitchFamily="18" charset="0"/>
                <a:cs typeface="Times New Roman" panose="02020603050405020304" pitchFamily="18" charset="0"/>
              </a:rPr>
              <a:t>Instead of processing full-length signals, the system focuses on extracting rich and relevant feature representations.</a:t>
            </a:r>
          </a:p>
          <a:p>
            <a:pPr>
              <a:buClr>
                <a:schemeClr val="tx1"/>
              </a:buClr>
              <a:buFont typeface="Wingdings" panose="05000000000000000000" pitchFamily="2" charset="2"/>
              <a:buChar char="§"/>
            </a:pPr>
            <a:r>
              <a:rPr lang="en-US" dirty="0">
                <a:solidFill>
                  <a:schemeClr val="tx1"/>
                </a:solidFill>
                <a:latin typeface="Times New Roman" panose="02020603050405020304" pitchFamily="18" charset="0"/>
                <a:cs typeface="Times New Roman" panose="02020603050405020304" pitchFamily="18" charset="0"/>
              </a:rPr>
              <a:t>This approach improves detection accuracy while also reducing computational complexity.</a:t>
            </a:r>
          </a:p>
          <a:p>
            <a:pPr>
              <a:buClr>
                <a:schemeClr val="tx1"/>
              </a:buClr>
              <a:buFont typeface="Wingdings" panose="05000000000000000000" pitchFamily="2" charset="2"/>
              <a:buChar char="§"/>
            </a:pPr>
            <a:r>
              <a:rPr lang="en-US" dirty="0">
                <a:solidFill>
                  <a:schemeClr val="tx1"/>
                </a:solidFill>
                <a:latin typeface="Times New Roman" panose="02020603050405020304" pitchFamily="18" charset="0"/>
                <a:cs typeface="Times New Roman" panose="02020603050405020304" pitchFamily="18" charset="0"/>
              </a:rPr>
              <a:t>The proposed system aims to provide a scalable, efficient, and reliable solution for real-time sleep apnea detection in healthcare applications.</a:t>
            </a:r>
            <a:endParaRPr lang="en-IN"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15827916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7E95B1-76DD-424F-DAC3-A9E47598E33E}"/>
              </a:ext>
            </a:extLst>
          </p:cNvPr>
          <p:cNvSpPr>
            <a:spLocks noGrp="1"/>
          </p:cNvSpPr>
          <p:nvPr>
            <p:ph type="title"/>
          </p:nvPr>
        </p:nvSpPr>
        <p:spPr>
          <a:xfrm>
            <a:off x="631035" y="540151"/>
            <a:ext cx="8596668" cy="1320800"/>
          </a:xfrm>
        </p:spPr>
        <p:txBody>
          <a:bodyPr>
            <a:normAutofit/>
          </a:bodyPr>
          <a:lstStyle/>
          <a:p>
            <a:pPr algn="ctr"/>
            <a:r>
              <a:rPr lang="en-IN" sz="3200" b="1" u="sng" dirty="0">
                <a:solidFill>
                  <a:schemeClr val="tx1"/>
                </a:solidFill>
                <a:latin typeface="Times New Roman" panose="02020603050405020304" pitchFamily="18" charset="0"/>
                <a:cs typeface="Times New Roman" panose="02020603050405020304" pitchFamily="18" charset="0"/>
              </a:rPr>
              <a:t>Literature study</a:t>
            </a:r>
          </a:p>
        </p:txBody>
      </p:sp>
      <p:sp>
        <p:nvSpPr>
          <p:cNvPr id="3" name="Content Placeholder 2">
            <a:extLst>
              <a:ext uri="{FF2B5EF4-FFF2-40B4-BE49-F238E27FC236}">
                <a16:creationId xmlns:a16="http://schemas.microsoft.com/office/drawing/2014/main" id="{B375D22B-50C1-FB5E-CB1C-F9FD67464A7E}"/>
              </a:ext>
            </a:extLst>
          </p:cNvPr>
          <p:cNvSpPr>
            <a:spLocks noGrp="1"/>
          </p:cNvSpPr>
          <p:nvPr>
            <p:ph idx="1"/>
          </p:nvPr>
        </p:nvSpPr>
        <p:spPr>
          <a:xfrm>
            <a:off x="631035" y="1432044"/>
            <a:ext cx="9012821" cy="3947676"/>
          </a:xfrm>
        </p:spPr>
        <p:txBody>
          <a:bodyPr>
            <a:noAutofit/>
          </a:bodyPr>
          <a:lstStyle/>
          <a:p>
            <a:pPr marL="0" indent="0" algn="just">
              <a:buNone/>
            </a:pPr>
            <a:r>
              <a:rPr lang="en-US" sz="2000" dirty="0">
                <a:latin typeface="Times New Roman" panose="02020603050405020304" pitchFamily="18" charset="0"/>
                <a:cs typeface="Times New Roman" panose="02020603050405020304" pitchFamily="18" charset="0"/>
              </a:rPr>
              <a:t>Several studies have explored sleep apnea detection using machine learning and deep learning techniques, focusing on ECG and related physiological signals. Neural networks, CNNs, hybrid transformer models, and feature-based ML classifiers have shown promising results in improving detection accuracy. However, many approaches suffer from limitations such as small dataset sizes, insufficient feature extraction, lack of scalability, limited generalization, and reduced clinical reliability, highlighting the need for more robust and explainable models.</a:t>
            </a:r>
          </a:p>
          <a:p>
            <a:pPr marL="0" indent="0" algn="just">
              <a:buNone/>
            </a:pPr>
            <a:r>
              <a:rPr lang="en-IN" sz="2000" b="1" dirty="0">
                <a:latin typeface="Times New Roman" panose="02020603050405020304" pitchFamily="18" charset="0"/>
                <a:cs typeface="Times New Roman" panose="02020603050405020304" pitchFamily="18" charset="0"/>
              </a:rPr>
              <a:t>Varisco et al. </a:t>
            </a:r>
            <a:r>
              <a:rPr lang="en-IN" sz="2000" dirty="0">
                <a:latin typeface="Times New Roman" panose="02020603050405020304" pitchFamily="18" charset="0"/>
                <a:cs typeface="Times New Roman" panose="02020603050405020304" pitchFamily="18" charset="0"/>
              </a:rPr>
              <a:t>used neural networks for central sleep </a:t>
            </a:r>
            <a:r>
              <a:rPr lang="en-IN" sz="2000" dirty="0" err="1">
                <a:latin typeface="Times New Roman" panose="02020603050405020304" pitchFamily="18" charset="0"/>
                <a:cs typeface="Times New Roman" panose="02020603050405020304" pitchFamily="18" charset="0"/>
              </a:rPr>
              <a:t>apnea</a:t>
            </a:r>
            <a:r>
              <a:rPr lang="en-IN" sz="2000" dirty="0">
                <a:latin typeface="Times New Roman" panose="02020603050405020304" pitchFamily="18" charset="0"/>
                <a:cs typeface="Times New Roman" panose="02020603050405020304" pitchFamily="18" charset="0"/>
              </a:rPr>
              <a:t> detection in preterm infants. </a:t>
            </a:r>
            <a:r>
              <a:rPr lang="en-IN" sz="2000" b="1" dirty="0">
                <a:latin typeface="Times New Roman" panose="02020603050405020304" pitchFamily="18" charset="0"/>
                <a:cs typeface="Times New Roman" panose="02020603050405020304" pitchFamily="18" charset="0"/>
              </a:rPr>
              <a:t>Abasi et al. </a:t>
            </a:r>
            <a:r>
              <a:rPr lang="en-IN" sz="2000" dirty="0">
                <a:latin typeface="Times New Roman" panose="02020603050405020304" pitchFamily="18" charset="0"/>
                <a:cs typeface="Times New Roman" panose="02020603050405020304" pitchFamily="18" charset="0"/>
              </a:rPr>
              <a:t>applied a CNN with honey badger optimization on ECG data. </a:t>
            </a:r>
            <a:r>
              <a:rPr lang="en-IN" sz="2000" b="1" dirty="0">
                <a:latin typeface="Times New Roman" panose="02020603050405020304" pitchFamily="18" charset="0"/>
                <a:cs typeface="Times New Roman" panose="02020603050405020304" pitchFamily="18" charset="0"/>
              </a:rPr>
              <a:t>Hu et al. </a:t>
            </a:r>
            <a:r>
              <a:rPr lang="en-IN" sz="2000" dirty="0">
                <a:latin typeface="Times New Roman" panose="02020603050405020304" pitchFamily="18" charset="0"/>
                <a:cs typeface="Times New Roman" panose="02020603050405020304" pitchFamily="18" charset="0"/>
              </a:rPr>
              <a:t>proposed a hybrid transformer with attention for </a:t>
            </a:r>
            <a:r>
              <a:rPr lang="en-IN" sz="2000" dirty="0" err="1">
                <a:latin typeface="Times New Roman" panose="02020603050405020304" pitchFamily="18" charset="0"/>
                <a:cs typeface="Times New Roman" panose="02020603050405020304" pitchFamily="18" charset="0"/>
              </a:rPr>
              <a:t>apnea</a:t>
            </a:r>
            <a:r>
              <a:rPr lang="en-IN" sz="2000" dirty="0">
                <a:latin typeface="Times New Roman" panose="02020603050405020304" pitchFamily="18" charset="0"/>
                <a:cs typeface="Times New Roman" panose="02020603050405020304" pitchFamily="18" charset="0"/>
              </a:rPr>
              <a:t> detection. </a:t>
            </a:r>
            <a:r>
              <a:rPr lang="en-IN" sz="2000" b="1" dirty="0">
                <a:latin typeface="Times New Roman" panose="02020603050405020304" pitchFamily="18" charset="0"/>
                <a:cs typeface="Times New Roman" panose="02020603050405020304" pitchFamily="18" charset="0"/>
              </a:rPr>
              <a:t>Padovano et al. </a:t>
            </a:r>
            <a:r>
              <a:rPr lang="en-IN" sz="2000" dirty="0">
                <a:latin typeface="Times New Roman" panose="02020603050405020304" pitchFamily="18" charset="0"/>
                <a:cs typeface="Times New Roman" panose="02020603050405020304" pitchFamily="18" charset="0"/>
              </a:rPr>
              <a:t>used HRV-based machine learning methods, while </a:t>
            </a:r>
            <a:r>
              <a:rPr lang="en-IN" sz="2000" b="1" dirty="0">
                <a:latin typeface="Times New Roman" panose="02020603050405020304" pitchFamily="18" charset="0"/>
                <a:cs typeface="Times New Roman" panose="02020603050405020304" pitchFamily="18" charset="0"/>
              </a:rPr>
              <a:t>Chen et al. </a:t>
            </a:r>
            <a:r>
              <a:rPr lang="en-IN" sz="2000" dirty="0">
                <a:latin typeface="Times New Roman" panose="02020603050405020304" pitchFamily="18" charset="0"/>
                <a:cs typeface="Times New Roman" panose="02020603050405020304" pitchFamily="18" charset="0"/>
              </a:rPr>
              <a:t>introduced an attention-based fusion network for ECG-based sleep </a:t>
            </a:r>
            <a:r>
              <a:rPr lang="en-IN" sz="2000" dirty="0" err="1">
                <a:latin typeface="Times New Roman" panose="02020603050405020304" pitchFamily="18" charset="0"/>
                <a:cs typeface="Times New Roman" panose="02020603050405020304" pitchFamily="18" charset="0"/>
              </a:rPr>
              <a:t>apnea</a:t>
            </a:r>
            <a:r>
              <a:rPr lang="en-IN" sz="2000" dirty="0">
                <a:latin typeface="Times New Roman" panose="02020603050405020304" pitchFamily="18" charset="0"/>
                <a:cs typeface="Times New Roman" panose="02020603050405020304" pitchFamily="18" charset="0"/>
              </a:rPr>
              <a:t> detection.</a:t>
            </a:r>
            <a:endParaRPr lang="en-US" sz="2000" dirty="0">
              <a:latin typeface="Times New Roman" panose="02020603050405020304" pitchFamily="18" charset="0"/>
              <a:cs typeface="Times New Roman" panose="02020603050405020304" pitchFamily="18" charset="0"/>
            </a:endParaRPr>
          </a:p>
          <a:p>
            <a:pPr marL="0" indent="0" algn="just">
              <a:buNone/>
            </a:pPr>
            <a:endParaRPr lang="en-US" sz="2000" dirty="0">
              <a:latin typeface="Times New Roman" panose="02020603050405020304" pitchFamily="18" charset="0"/>
              <a:cs typeface="Times New Roman" panose="02020603050405020304" pitchFamily="18" charset="0"/>
            </a:endParaRPr>
          </a:p>
          <a:p>
            <a:pPr marL="0" indent="0">
              <a:buNone/>
            </a:pP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30590289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21A4B3D2-47F0-952D-37A6-A48037084EA3}"/>
              </a:ext>
            </a:extLst>
          </p:cNvPr>
          <p:cNvPicPr>
            <a:picLocks noChangeAspect="1"/>
          </p:cNvPicPr>
          <p:nvPr/>
        </p:nvPicPr>
        <p:blipFill>
          <a:blip r:embed="rId2"/>
          <a:stretch>
            <a:fillRect/>
          </a:stretch>
        </p:blipFill>
        <p:spPr>
          <a:xfrm>
            <a:off x="967904" y="309127"/>
            <a:ext cx="7316221" cy="6239746"/>
          </a:xfrm>
          <a:prstGeom prst="rect">
            <a:avLst/>
          </a:prstGeom>
        </p:spPr>
      </p:pic>
      <p:sp>
        <p:nvSpPr>
          <p:cNvPr id="7" name="TextBox 6">
            <a:extLst>
              <a:ext uri="{FF2B5EF4-FFF2-40B4-BE49-F238E27FC236}">
                <a16:creationId xmlns:a16="http://schemas.microsoft.com/office/drawing/2014/main" id="{05E15F6F-0061-F2B3-A21A-F49836309224}"/>
              </a:ext>
            </a:extLst>
          </p:cNvPr>
          <p:cNvSpPr txBox="1"/>
          <p:nvPr/>
        </p:nvSpPr>
        <p:spPr>
          <a:xfrm>
            <a:off x="8539223" y="3140691"/>
            <a:ext cx="3822539" cy="523220"/>
          </a:xfrm>
          <a:prstGeom prst="rect">
            <a:avLst/>
          </a:prstGeom>
          <a:noFill/>
        </p:spPr>
        <p:txBody>
          <a:bodyPr wrap="square">
            <a:spAutoFit/>
          </a:bodyPr>
          <a:lstStyle/>
          <a:p>
            <a:r>
              <a:rPr lang="en-IN" sz="2800" b="1" dirty="0">
                <a:latin typeface="Times New Roman" panose="02020603050405020304" pitchFamily="18" charset="0"/>
                <a:cs typeface="Times New Roman" panose="02020603050405020304" pitchFamily="18" charset="0"/>
              </a:rPr>
              <a:t>Prior research analysis</a:t>
            </a:r>
          </a:p>
        </p:txBody>
      </p:sp>
    </p:spTree>
    <p:extLst>
      <p:ext uri="{BB962C8B-B14F-4D97-AF65-F5344CB8AC3E}">
        <p14:creationId xmlns:p14="http://schemas.microsoft.com/office/powerpoint/2010/main" val="176419878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4602C0-16A4-42A1-2B8E-EA659A3BDF22}"/>
              </a:ext>
            </a:extLst>
          </p:cNvPr>
          <p:cNvSpPr>
            <a:spLocks noGrp="1"/>
          </p:cNvSpPr>
          <p:nvPr>
            <p:ph type="title"/>
          </p:nvPr>
        </p:nvSpPr>
        <p:spPr/>
        <p:txBody>
          <a:bodyPr/>
          <a:lstStyle/>
          <a:p>
            <a:pPr algn="ctr"/>
            <a:r>
              <a:rPr lang="en-US" b="1" u="sng" dirty="0">
                <a:solidFill>
                  <a:schemeClr val="tx1"/>
                </a:solidFill>
                <a:latin typeface="Times New Roman" panose="02020603050405020304" pitchFamily="18" charset="0"/>
                <a:cs typeface="Times New Roman" panose="02020603050405020304" pitchFamily="18" charset="0"/>
              </a:rPr>
              <a:t>Existing Problem</a:t>
            </a:r>
            <a:br>
              <a:rPr lang="en-US" dirty="0">
                <a:latin typeface="Times New Roman" panose="02020603050405020304" pitchFamily="18" charset="0"/>
                <a:cs typeface="Times New Roman" panose="02020603050405020304" pitchFamily="18" charset="0"/>
              </a:rPr>
            </a:br>
            <a:endParaRPr lang="en-IN" dirty="0"/>
          </a:p>
        </p:txBody>
      </p:sp>
      <p:sp>
        <p:nvSpPr>
          <p:cNvPr id="3" name="Content Placeholder 2">
            <a:extLst>
              <a:ext uri="{FF2B5EF4-FFF2-40B4-BE49-F238E27FC236}">
                <a16:creationId xmlns:a16="http://schemas.microsoft.com/office/drawing/2014/main" id="{ACF5E04C-991E-269D-9605-BF4D309C8DE6}"/>
              </a:ext>
            </a:extLst>
          </p:cNvPr>
          <p:cNvSpPr>
            <a:spLocks noGrp="1"/>
          </p:cNvSpPr>
          <p:nvPr>
            <p:ph idx="1"/>
          </p:nvPr>
        </p:nvSpPr>
        <p:spPr>
          <a:xfrm>
            <a:off x="677334" y="1481559"/>
            <a:ext cx="9716732" cy="5104436"/>
          </a:xfrm>
        </p:spPr>
        <p:txBody>
          <a:bodyPr>
            <a:noAutofit/>
          </a:bodyPr>
          <a:lstStyle/>
          <a:p>
            <a:pPr marL="0" indent="0" algn="just">
              <a:buNone/>
            </a:pPr>
            <a:r>
              <a:rPr lang="en-US" sz="2000" dirty="0">
                <a:latin typeface="Times New Roman" panose="02020603050405020304" pitchFamily="18" charset="0"/>
                <a:cs typeface="Times New Roman" panose="02020603050405020304" pitchFamily="18" charset="0"/>
              </a:rPr>
              <a:t>Sleep apnea detection in neonates is clinically critical, but current diagnostic and AI-based approaches face several limitations. Traditional diagnosis using polysomnography (PSG) is expensive, time-consuming, computationally complex, and unsuitable for continuous monitoring in NICUs. Although machine learning and deep learning models have improved detection performance, they still lack reliability, scalability, and clinical trust.</a:t>
            </a:r>
          </a:p>
          <a:p>
            <a:r>
              <a:rPr lang="en-US" sz="2000" dirty="0">
                <a:latin typeface="Times New Roman" panose="02020603050405020304" pitchFamily="18" charset="0"/>
                <a:cs typeface="Times New Roman" panose="02020603050405020304" pitchFamily="18" charset="0"/>
              </a:rPr>
              <a:t>PSG-based diagnosis is costly, slow, and resource-intensive.</a:t>
            </a:r>
          </a:p>
          <a:p>
            <a:r>
              <a:rPr lang="en-US" sz="2000" dirty="0">
                <a:latin typeface="Times New Roman" panose="02020603050405020304" pitchFamily="18" charset="0"/>
                <a:cs typeface="Times New Roman" panose="02020603050405020304" pitchFamily="18" charset="0"/>
              </a:rPr>
              <a:t>ML methods depend on handcrafted features, leading to poor accuracy and weak generalization.</a:t>
            </a:r>
          </a:p>
          <a:p>
            <a:r>
              <a:rPr lang="en-US" sz="2000" dirty="0">
                <a:latin typeface="Times New Roman" panose="02020603050405020304" pitchFamily="18" charset="0"/>
                <a:cs typeface="Times New Roman" panose="02020603050405020304" pitchFamily="18" charset="0"/>
              </a:rPr>
              <a:t>DL models (CNN, RNN) require large datasets and suffer from high complexity and training instability.</a:t>
            </a:r>
          </a:p>
          <a:p>
            <a:r>
              <a:rPr lang="en-US" sz="2000" dirty="0">
                <a:latin typeface="Times New Roman" panose="02020603050405020304" pitchFamily="18" charset="0"/>
                <a:cs typeface="Times New Roman" panose="02020603050405020304" pitchFamily="18" charset="0"/>
              </a:rPr>
              <a:t>Transformer models improve temporal learning but are computationally expensive.</a:t>
            </a:r>
          </a:p>
          <a:p>
            <a:r>
              <a:rPr lang="en-US" sz="2000" dirty="0">
                <a:latin typeface="Times New Roman" panose="02020603050405020304" pitchFamily="18" charset="0"/>
                <a:cs typeface="Times New Roman" panose="02020603050405020304" pitchFamily="18" charset="0"/>
              </a:rPr>
              <a:t>Poor fusion of multimodal signals (ECG, respiration, SpO₂) limits diagnostic performance.</a:t>
            </a:r>
          </a:p>
          <a:p>
            <a:r>
              <a:rPr lang="en-US" sz="2000" dirty="0">
                <a:latin typeface="Times New Roman" panose="02020603050405020304" pitchFamily="18" charset="0"/>
                <a:cs typeface="Times New Roman" panose="02020603050405020304" pitchFamily="18" charset="0"/>
              </a:rPr>
              <a:t>Lack of interpretability reduces clinician trust and real-world adoption.</a:t>
            </a:r>
          </a:p>
          <a:p>
            <a:pPr marL="0" indent="0">
              <a:buNone/>
            </a:pPr>
            <a:endParaRPr lang="en-IN" sz="2000" dirty="0"/>
          </a:p>
        </p:txBody>
      </p:sp>
    </p:spTree>
    <p:extLst>
      <p:ext uri="{BB962C8B-B14F-4D97-AF65-F5344CB8AC3E}">
        <p14:creationId xmlns:p14="http://schemas.microsoft.com/office/powerpoint/2010/main" val="248926462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8E453A-D19E-4D1E-142A-740D72277C8C}"/>
              </a:ext>
            </a:extLst>
          </p:cNvPr>
          <p:cNvSpPr>
            <a:spLocks noGrp="1"/>
          </p:cNvSpPr>
          <p:nvPr>
            <p:ph type="title"/>
          </p:nvPr>
        </p:nvSpPr>
        <p:spPr/>
        <p:txBody>
          <a:bodyPr/>
          <a:lstStyle/>
          <a:p>
            <a:pPr algn="ctr"/>
            <a:r>
              <a:rPr lang="en-IN" b="1" u="sng" dirty="0">
                <a:solidFill>
                  <a:schemeClr val="tx1"/>
                </a:solidFill>
                <a:latin typeface="Times New Roman" panose="02020603050405020304" pitchFamily="18" charset="0"/>
                <a:cs typeface="Times New Roman" panose="02020603050405020304" pitchFamily="18" charset="0"/>
              </a:rPr>
              <a:t>Research Objective</a:t>
            </a:r>
          </a:p>
        </p:txBody>
      </p:sp>
      <p:sp>
        <p:nvSpPr>
          <p:cNvPr id="3" name="Content Placeholder 2">
            <a:extLst>
              <a:ext uri="{FF2B5EF4-FFF2-40B4-BE49-F238E27FC236}">
                <a16:creationId xmlns:a16="http://schemas.microsoft.com/office/drawing/2014/main" id="{AAFE6747-7CB5-482A-4014-C59C64269FC3}"/>
              </a:ext>
            </a:extLst>
          </p:cNvPr>
          <p:cNvSpPr>
            <a:spLocks noGrp="1"/>
          </p:cNvSpPr>
          <p:nvPr>
            <p:ph idx="1"/>
          </p:nvPr>
        </p:nvSpPr>
        <p:spPr>
          <a:xfrm>
            <a:off x="677334" y="1838633"/>
            <a:ext cx="9007440" cy="4202730"/>
          </a:xfrm>
        </p:spPr>
        <p:txBody>
          <a:bodyPr/>
          <a:lstStyle/>
          <a:p>
            <a:pPr marL="0" indent="0" algn="just">
              <a:buNone/>
            </a:pPr>
            <a:r>
              <a:rPr lang="en-US" dirty="0">
                <a:latin typeface="Times New Roman" panose="02020603050405020304" pitchFamily="18" charset="0"/>
                <a:cs typeface="Times New Roman" panose="02020603050405020304" pitchFamily="18" charset="0"/>
              </a:rPr>
              <a:t>The main objective of this research is to develop an automated and reliable system for sleep apnea detection using advanced deep learning techniques. The study focuses on designing a transformer-based model with a dual-branch fusion approach to effectively capture both temporal and contextual features from physiological signals. It aims to improve detection accuracy, robustness, and consistency while reducing dependence on manual analysis of Polysomnography (PSG) data. Additionally, the research emphasizes efficient feature extraction by focusing on relevant signal segments, thereby reducing computational complexity and processing time. The model is evaluated using standard performance metrics to ensure its effectiveness and generalization across different datasets. Ultimately, the proposed system seeks to provide a scalable, cost-effective, and real-time solution that can support early diagnosis and enhance decision-making in healthcare applications.</a:t>
            </a:r>
          </a:p>
          <a:p>
            <a:pPr marL="0" indent="0" algn="just">
              <a:buNone/>
            </a:pP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09606209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84AB69-B46F-2D88-1F32-631ACDD2517F}"/>
              </a:ext>
            </a:extLst>
          </p:cNvPr>
          <p:cNvSpPr>
            <a:spLocks noGrp="1"/>
          </p:cNvSpPr>
          <p:nvPr>
            <p:ph type="title"/>
          </p:nvPr>
        </p:nvSpPr>
        <p:spPr>
          <a:xfrm>
            <a:off x="677334" y="435979"/>
            <a:ext cx="8596668" cy="1320800"/>
          </a:xfrm>
        </p:spPr>
        <p:txBody>
          <a:bodyPr/>
          <a:lstStyle/>
          <a:p>
            <a:pPr algn="ctr"/>
            <a:r>
              <a:rPr lang="en-US" b="1" u="sng" dirty="0">
                <a:solidFill>
                  <a:schemeClr val="tx1"/>
                </a:solidFill>
                <a:latin typeface="Times New Roman" panose="02020603050405020304" pitchFamily="18" charset="0"/>
                <a:cs typeface="Times New Roman" panose="02020603050405020304" pitchFamily="18" charset="0"/>
              </a:rPr>
              <a:t>Proposed</a:t>
            </a:r>
            <a:r>
              <a:rPr lang="en-US" b="1" u="sng" dirty="0">
                <a:solidFill>
                  <a:schemeClr val="tx1"/>
                </a:solidFill>
              </a:rPr>
              <a:t> </a:t>
            </a:r>
            <a:r>
              <a:rPr lang="en-US" b="1" u="sng" dirty="0">
                <a:solidFill>
                  <a:schemeClr val="tx1"/>
                </a:solidFill>
                <a:latin typeface="Times New Roman" panose="02020603050405020304" pitchFamily="18" charset="0"/>
                <a:cs typeface="Times New Roman" panose="02020603050405020304" pitchFamily="18" charset="0"/>
              </a:rPr>
              <a:t>Methodology</a:t>
            </a:r>
            <a:endParaRPr lang="en-IN" b="1" u="sng" dirty="0">
              <a:solidFill>
                <a:schemeClr val="tx1"/>
              </a:solidFill>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8EDD2CD7-CABB-31C6-1BCF-E4E2D824BC64}"/>
              </a:ext>
            </a:extLst>
          </p:cNvPr>
          <p:cNvSpPr>
            <a:spLocks noGrp="1"/>
          </p:cNvSpPr>
          <p:nvPr>
            <p:ph idx="1"/>
          </p:nvPr>
        </p:nvSpPr>
        <p:spPr>
          <a:xfrm>
            <a:off x="677334" y="1423686"/>
            <a:ext cx="9508388" cy="5092861"/>
          </a:xfrm>
        </p:spPr>
        <p:txBody>
          <a:bodyPr>
            <a:normAutofit/>
          </a:bodyPr>
          <a:lstStyle/>
          <a:p>
            <a:pPr marL="0" indent="0" algn="just">
              <a:buNone/>
            </a:pPr>
            <a:r>
              <a:rPr lang="en-IN" sz="2000" dirty="0">
                <a:latin typeface="Times New Roman" panose="02020603050405020304" pitchFamily="18" charset="0"/>
                <a:cs typeface="Times New Roman" panose="02020603050405020304" pitchFamily="18" charset="0"/>
              </a:rPr>
              <a:t>This research proposes an </a:t>
            </a:r>
            <a:r>
              <a:rPr lang="en-IN" sz="2000" b="1" dirty="0">
                <a:latin typeface="Times New Roman" panose="02020603050405020304" pitchFamily="18" charset="0"/>
                <a:cs typeface="Times New Roman" panose="02020603050405020304" pitchFamily="18" charset="0"/>
              </a:rPr>
              <a:t>explainable multi-feature fusion transformer-based framework</a:t>
            </a:r>
            <a:r>
              <a:rPr lang="en-IN" sz="2000" dirty="0">
                <a:latin typeface="Times New Roman" panose="02020603050405020304" pitchFamily="18" charset="0"/>
                <a:cs typeface="Times New Roman" panose="02020603050405020304" pitchFamily="18" charset="0"/>
              </a:rPr>
              <a:t> for early detection of neonatal sleep </a:t>
            </a:r>
            <a:r>
              <a:rPr lang="en-IN" sz="2000" dirty="0" err="1">
                <a:latin typeface="Times New Roman" panose="02020603050405020304" pitchFamily="18" charset="0"/>
                <a:cs typeface="Times New Roman" panose="02020603050405020304" pitchFamily="18" charset="0"/>
              </a:rPr>
              <a:t>apnea</a:t>
            </a:r>
            <a:r>
              <a:rPr lang="en-IN" sz="2000" dirty="0">
                <a:latin typeface="Times New Roman" panose="02020603050405020304" pitchFamily="18" charset="0"/>
                <a:cs typeface="Times New Roman" panose="02020603050405020304" pitchFamily="18" charset="0"/>
              </a:rPr>
              <a:t> using overnight physiological time-series signals. The model integrates multimodal signal processing, advanced deep learning architectures, optimization techniques, and explainable AI to achieve accurate, efficient, and clinically reliable diagnosis.</a:t>
            </a:r>
          </a:p>
          <a:p>
            <a:pPr marL="0" indent="0">
              <a:buNone/>
            </a:pPr>
            <a:r>
              <a:rPr lang="en-IN" sz="2000" b="1" dirty="0">
                <a:latin typeface="Times New Roman" panose="02020603050405020304" pitchFamily="18" charset="0"/>
                <a:cs typeface="Times New Roman" panose="02020603050405020304" pitchFamily="18" charset="0"/>
              </a:rPr>
              <a:t>Methodology Workflow</a:t>
            </a:r>
          </a:p>
          <a:p>
            <a:r>
              <a:rPr lang="en-IN" sz="2000" b="1" dirty="0">
                <a:latin typeface="Times New Roman" panose="02020603050405020304" pitchFamily="18" charset="0"/>
                <a:cs typeface="Times New Roman" panose="02020603050405020304" pitchFamily="18" charset="0"/>
              </a:rPr>
              <a:t>Data Collection:</a:t>
            </a:r>
            <a:r>
              <a:rPr lang="en-IN" sz="2000" dirty="0">
                <a:latin typeface="Times New Roman" panose="02020603050405020304" pitchFamily="18" charset="0"/>
                <a:cs typeface="Times New Roman" panose="02020603050405020304" pitchFamily="18" charset="0"/>
              </a:rPr>
              <a:t> Multimodal PSG signals (ECG + respiratory signals)</a:t>
            </a:r>
          </a:p>
          <a:p>
            <a:r>
              <a:rPr lang="en-IN" sz="2000" b="1" dirty="0">
                <a:latin typeface="Times New Roman" panose="02020603050405020304" pitchFamily="18" charset="0"/>
                <a:cs typeface="Times New Roman" panose="02020603050405020304" pitchFamily="18" charset="0"/>
              </a:rPr>
              <a:t>Pre-processing:</a:t>
            </a:r>
            <a:r>
              <a:rPr lang="en-IN" sz="2000" dirty="0">
                <a:latin typeface="Times New Roman" panose="02020603050405020304" pitchFamily="18" charset="0"/>
                <a:cs typeface="Times New Roman" panose="02020603050405020304" pitchFamily="18" charset="0"/>
              </a:rPr>
              <a:t> Resampling, normalization, noise removal, missing value handling</a:t>
            </a:r>
          </a:p>
          <a:p>
            <a:r>
              <a:rPr lang="en-IN" sz="2000" b="1" dirty="0">
                <a:latin typeface="Times New Roman" panose="02020603050405020304" pitchFamily="18" charset="0"/>
                <a:cs typeface="Times New Roman" panose="02020603050405020304" pitchFamily="18" charset="0"/>
              </a:rPr>
              <a:t>Feature Extraction:</a:t>
            </a:r>
            <a:r>
              <a:rPr lang="en-IN" sz="2000" dirty="0">
                <a:latin typeface="Times New Roman" panose="02020603050405020304" pitchFamily="18" charset="0"/>
                <a:cs typeface="Times New Roman" panose="02020603050405020304" pitchFamily="18" charset="0"/>
              </a:rPr>
              <a:t> Attention-assisted dual-feature fusion using TCN + Bi-GRU</a:t>
            </a:r>
          </a:p>
          <a:p>
            <a:r>
              <a:rPr lang="en-IN" sz="2000" b="1" dirty="0">
                <a:latin typeface="Times New Roman" panose="02020603050405020304" pitchFamily="18" charset="0"/>
                <a:cs typeface="Times New Roman" panose="02020603050405020304" pitchFamily="18" charset="0"/>
              </a:rPr>
              <a:t>Feature Fusion:</a:t>
            </a:r>
            <a:r>
              <a:rPr lang="en-IN" sz="2000" dirty="0">
                <a:latin typeface="Times New Roman" panose="02020603050405020304" pitchFamily="18" charset="0"/>
                <a:cs typeface="Times New Roman" panose="02020603050405020304" pitchFamily="18" charset="0"/>
              </a:rPr>
              <a:t> Cross-attention based multimodal fusion</a:t>
            </a:r>
          </a:p>
          <a:p>
            <a:r>
              <a:rPr lang="en-IN" sz="2000" b="1" dirty="0">
                <a:latin typeface="Times New Roman" panose="02020603050405020304" pitchFamily="18" charset="0"/>
                <a:cs typeface="Times New Roman" panose="02020603050405020304" pitchFamily="18" charset="0"/>
              </a:rPr>
              <a:t>Detection Model:</a:t>
            </a:r>
            <a:r>
              <a:rPr lang="en-IN" sz="2000" dirty="0">
                <a:latin typeface="Times New Roman" panose="02020603050405020304" pitchFamily="18" charset="0"/>
                <a:cs typeface="Times New Roman" panose="02020603050405020304" pitchFamily="18" charset="0"/>
              </a:rPr>
              <a:t> Optimized residual dilated depth-wise squeeze absolute transformer</a:t>
            </a:r>
          </a:p>
          <a:p>
            <a:r>
              <a:rPr lang="en-IN" sz="2000" b="1" dirty="0">
                <a:latin typeface="Times New Roman" panose="02020603050405020304" pitchFamily="18" charset="0"/>
                <a:cs typeface="Times New Roman" panose="02020603050405020304" pitchFamily="18" charset="0"/>
              </a:rPr>
              <a:t>Optimization:</a:t>
            </a:r>
            <a:r>
              <a:rPr lang="en-IN" sz="2000" dirty="0">
                <a:latin typeface="Times New Roman" panose="02020603050405020304" pitchFamily="18" charset="0"/>
                <a:cs typeface="Times New Roman" panose="02020603050405020304" pitchFamily="18" charset="0"/>
              </a:rPr>
              <a:t> Improved sinusoidal whale optimization for hyperparameter tuning</a:t>
            </a:r>
          </a:p>
          <a:p>
            <a:r>
              <a:rPr lang="en-IN" sz="2000" b="1" dirty="0">
                <a:latin typeface="Times New Roman" panose="02020603050405020304" pitchFamily="18" charset="0"/>
                <a:cs typeface="Times New Roman" panose="02020603050405020304" pitchFamily="18" charset="0"/>
              </a:rPr>
              <a:t>Interpretability:</a:t>
            </a:r>
            <a:r>
              <a:rPr lang="en-IN" sz="2000" dirty="0">
                <a:latin typeface="Times New Roman" panose="02020603050405020304" pitchFamily="18" charset="0"/>
                <a:cs typeface="Times New Roman" panose="02020603050405020304" pitchFamily="18" charset="0"/>
              </a:rPr>
              <a:t> SHAP-based Explainable AI for transparent predictions</a:t>
            </a:r>
          </a:p>
          <a:p>
            <a:pPr marL="0" indent="0">
              <a:buNone/>
            </a:pP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59723827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308DCA-45C3-BDBB-D4EF-8E249A807F0E}"/>
              </a:ext>
            </a:extLst>
          </p:cNvPr>
          <p:cNvSpPr>
            <a:spLocks noGrp="1"/>
          </p:cNvSpPr>
          <p:nvPr>
            <p:ph type="title"/>
          </p:nvPr>
        </p:nvSpPr>
        <p:spPr/>
        <p:txBody>
          <a:bodyPr/>
          <a:lstStyle/>
          <a:p>
            <a:pPr algn="ctr"/>
            <a:r>
              <a:rPr lang="en-US" b="1" u="sng" dirty="0">
                <a:solidFill>
                  <a:schemeClr val="tx1"/>
                </a:solidFill>
                <a:latin typeface="Times New Roman" panose="02020603050405020304" pitchFamily="18" charset="0"/>
                <a:cs typeface="Times New Roman" panose="02020603050405020304" pitchFamily="18" charset="0"/>
              </a:rPr>
              <a:t>Architecture Model</a:t>
            </a:r>
            <a:endParaRPr lang="en-IN" dirty="0"/>
          </a:p>
        </p:txBody>
      </p:sp>
      <p:sp>
        <p:nvSpPr>
          <p:cNvPr id="3" name="Content Placeholder 2">
            <a:extLst>
              <a:ext uri="{FF2B5EF4-FFF2-40B4-BE49-F238E27FC236}">
                <a16:creationId xmlns:a16="http://schemas.microsoft.com/office/drawing/2014/main" id="{267CF27D-2401-1020-4EAC-A41BAEE3FB84}"/>
              </a:ext>
            </a:extLst>
          </p:cNvPr>
          <p:cNvSpPr>
            <a:spLocks noGrp="1"/>
          </p:cNvSpPr>
          <p:nvPr>
            <p:ph idx="1"/>
          </p:nvPr>
        </p:nvSpPr>
        <p:spPr>
          <a:xfrm>
            <a:off x="677333" y="1720645"/>
            <a:ext cx="9027105" cy="4320717"/>
          </a:xfrm>
        </p:spPr>
        <p:txBody>
          <a:bodyPr>
            <a:normAutofit/>
          </a:bodyPr>
          <a:lstStyle/>
          <a:p>
            <a:pPr marL="0" indent="0" algn="just">
              <a:buNone/>
            </a:pPr>
            <a:r>
              <a:rPr lang="en-US" dirty="0">
                <a:latin typeface="Times New Roman" panose="02020603050405020304" pitchFamily="18" charset="0"/>
                <a:cs typeface="Times New Roman" panose="02020603050405020304" pitchFamily="18" charset="0"/>
              </a:rPr>
              <a:t>The proposed system employs a deep learning-based architecture for the effective detection of Sleep Apnea from physiological time-series data. Initially, the input data undergoes preprocessing and normalization to ensure consistency and improve model performance. The processed data is then passed through multiple convolutional layers, which are responsible for automatically extracting significant features such as irregular breathing patterns and variations in heart rate. Activation functions like </a:t>
            </a:r>
            <a:r>
              <a:rPr lang="en-US" dirty="0" err="1">
                <a:latin typeface="Times New Roman" panose="02020603050405020304" pitchFamily="18" charset="0"/>
                <a:cs typeface="Times New Roman" panose="02020603050405020304" pitchFamily="18" charset="0"/>
              </a:rPr>
              <a:t>ReLU</a:t>
            </a:r>
            <a:r>
              <a:rPr lang="en-US" dirty="0">
                <a:latin typeface="Times New Roman" panose="02020603050405020304" pitchFamily="18" charset="0"/>
                <a:cs typeface="Times New Roman" panose="02020603050405020304" pitchFamily="18" charset="0"/>
              </a:rPr>
              <a:t> are applied to introduce non-linearity, while pooling layers are utilized to reduce dimensionality and computational complexity. The resulting feature maps are subsequently flattened and provided as input to fully connected dense layers, which learn the complex relationships among the extracted features. Finally, the output layer, using an appropriate activation function such as sigmoid or </a:t>
            </a:r>
            <a:r>
              <a:rPr lang="en-US" dirty="0" err="1">
                <a:latin typeface="Times New Roman" panose="02020603050405020304" pitchFamily="18" charset="0"/>
                <a:cs typeface="Times New Roman" panose="02020603050405020304" pitchFamily="18" charset="0"/>
              </a:rPr>
              <a:t>softmax</a:t>
            </a:r>
            <a:r>
              <a:rPr lang="en-US" dirty="0">
                <a:latin typeface="Times New Roman" panose="02020603050405020304" pitchFamily="18" charset="0"/>
                <a:cs typeface="Times New Roman" panose="02020603050405020304" pitchFamily="18" charset="0"/>
              </a:rPr>
              <a:t>, performs the classification of the input into apnea or normal categories. This architecture enhances detection accuracy by enabling automatic feature learning and minimizing the dependency on manual feature extraction techniques.</a:t>
            </a:r>
          </a:p>
          <a:p>
            <a:endParaRPr lang="en-IN" dirty="0"/>
          </a:p>
        </p:txBody>
      </p:sp>
    </p:spTree>
    <p:extLst>
      <p:ext uri="{BB962C8B-B14F-4D97-AF65-F5344CB8AC3E}">
        <p14:creationId xmlns:p14="http://schemas.microsoft.com/office/powerpoint/2010/main" val="108040822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2D8FF30E-B4D0-CE47-BD19-A1F47AA1949E}"/>
              </a:ext>
            </a:extLst>
          </p:cNvPr>
          <p:cNvPicPr>
            <a:picLocks noChangeAspect="1"/>
          </p:cNvPicPr>
          <p:nvPr/>
        </p:nvPicPr>
        <p:blipFill>
          <a:blip r:embed="rId2"/>
          <a:stretch>
            <a:fillRect/>
          </a:stretch>
        </p:blipFill>
        <p:spPr>
          <a:xfrm>
            <a:off x="1946787" y="536966"/>
            <a:ext cx="5333029" cy="6135151"/>
          </a:xfrm>
          <a:prstGeom prst="rect">
            <a:avLst/>
          </a:prstGeom>
          <a:ln>
            <a:noFill/>
          </a:ln>
          <a:effectLst>
            <a:softEdge rad="112500"/>
          </a:effectLst>
        </p:spPr>
      </p:pic>
      <p:sp>
        <p:nvSpPr>
          <p:cNvPr id="5" name="Title 4">
            <a:extLst>
              <a:ext uri="{FF2B5EF4-FFF2-40B4-BE49-F238E27FC236}">
                <a16:creationId xmlns:a16="http://schemas.microsoft.com/office/drawing/2014/main" id="{13DB318C-32CB-205F-15FB-31B33C920A2A}"/>
              </a:ext>
            </a:extLst>
          </p:cNvPr>
          <p:cNvSpPr>
            <a:spLocks noGrp="1"/>
          </p:cNvSpPr>
          <p:nvPr>
            <p:ph type="title"/>
          </p:nvPr>
        </p:nvSpPr>
        <p:spPr>
          <a:xfrm>
            <a:off x="638005" y="403123"/>
            <a:ext cx="8596668" cy="1320800"/>
          </a:xfrm>
        </p:spPr>
        <p:txBody>
          <a:bodyPr/>
          <a:lstStyle/>
          <a:p>
            <a:pPr algn="ctr"/>
            <a:br>
              <a:rPr lang="en-US" dirty="0">
                <a:latin typeface="Times New Roman" panose="02020603050405020304" pitchFamily="18" charset="0"/>
                <a:cs typeface="Times New Roman" panose="02020603050405020304" pitchFamily="18" charset="0"/>
              </a:rPr>
            </a:br>
            <a:endParaRPr lang="en-IN" dirty="0"/>
          </a:p>
        </p:txBody>
      </p:sp>
    </p:spTree>
    <p:extLst>
      <p:ext uri="{BB962C8B-B14F-4D97-AF65-F5344CB8AC3E}">
        <p14:creationId xmlns:p14="http://schemas.microsoft.com/office/powerpoint/2010/main" val="294561582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CFD3D8-C879-B0ED-F5A4-5145C8F05E4A}"/>
              </a:ext>
            </a:extLst>
          </p:cNvPr>
          <p:cNvSpPr>
            <a:spLocks noGrp="1"/>
          </p:cNvSpPr>
          <p:nvPr>
            <p:ph type="title"/>
          </p:nvPr>
        </p:nvSpPr>
        <p:spPr/>
        <p:txBody>
          <a:bodyPr/>
          <a:lstStyle/>
          <a:p>
            <a:r>
              <a:rPr lang="en-IN" b="1" dirty="0">
                <a:solidFill>
                  <a:schemeClr val="tx1"/>
                </a:solidFill>
                <a:latin typeface="Times New Roman" panose="02020603050405020304" pitchFamily="18" charset="0"/>
                <a:cs typeface="Times New Roman" panose="02020603050405020304" pitchFamily="18" charset="0"/>
              </a:rPr>
              <a:t>Results</a:t>
            </a:r>
          </a:p>
        </p:txBody>
      </p:sp>
      <p:sp>
        <p:nvSpPr>
          <p:cNvPr id="4" name="Content Placeholder 3">
            <a:extLst>
              <a:ext uri="{FF2B5EF4-FFF2-40B4-BE49-F238E27FC236}">
                <a16:creationId xmlns:a16="http://schemas.microsoft.com/office/drawing/2014/main" id="{93E2141D-25B1-7A42-8E79-BE49D6942921}"/>
              </a:ext>
            </a:extLst>
          </p:cNvPr>
          <p:cNvSpPr>
            <a:spLocks noGrp="1"/>
          </p:cNvSpPr>
          <p:nvPr>
            <p:ph idx="1"/>
          </p:nvPr>
        </p:nvSpPr>
        <p:spPr>
          <a:xfrm>
            <a:off x="677334" y="1737802"/>
            <a:ext cx="8596668" cy="3880773"/>
          </a:xfrm>
        </p:spPr>
        <p:txBody>
          <a:bodyPr>
            <a:normAutofit/>
          </a:bodyPr>
          <a:lstStyle/>
          <a:p>
            <a:pPr marL="0" indent="0" algn="just">
              <a:buNone/>
            </a:pPr>
            <a:r>
              <a:rPr lang="en-US" dirty="0">
                <a:latin typeface="Times New Roman" panose="02020603050405020304" pitchFamily="18" charset="0"/>
                <a:cs typeface="Times New Roman" panose="02020603050405020304" pitchFamily="18" charset="0"/>
              </a:rPr>
              <a:t>The experimental results demonstrate that the proposed deep learning model achieves effective performance in detecting Sleep Apnea from the given dataset. The model was evaluated using standard performance metrics such as accuracy, precision, recall, and F1-score, which indicate its capability to correctly classify apnea and normal cases. The results show that the model is able to learn meaningful patterns from physiological signals, leading to improved prediction accuracy. Additionally, the confusion matrix analysis reveals a balanced classification performance with minimal false positives and false negatives. The model’s performance highlights its robustness and generalization ability when applied to unseen data. However, minor misclassifications may occur due to noise in the input data or overlapping patterns between classes. Overall, the findings suggest that the proposed approach is reliable and can be effectively utilized for automated Sleep Apnea detection, with potential for further improvement through larger datasets and advanced model tuning.</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69920951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image113.png">
            <a:extLst>
              <a:ext uri="{FF2B5EF4-FFF2-40B4-BE49-F238E27FC236}">
                <a16:creationId xmlns:a16="http://schemas.microsoft.com/office/drawing/2014/main" id="{DF3E6E13-0ADB-7390-791F-F0B5EAC5D96C}"/>
              </a:ext>
            </a:extLst>
          </p:cNvPr>
          <p:cNvPicPr/>
          <p:nvPr/>
        </p:nvPicPr>
        <p:blipFill>
          <a:blip r:embed="rId2"/>
          <a:srcRect l="2655" t="11787" r="9578"/>
          <a:stretch>
            <a:fillRect/>
          </a:stretch>
        </p:blipFill>
        <p:spPr>
          <a:xfrm>
            <a:off x="140652" y="1192212"/>
            <a:ext cx="4858068" cy="3672840"/>
          </a:xfrm>
          <a:prstGeom prst="rect">
            <a:avLst/>
          </a:prstGeom>
          <a:ln/>
        </p:spPr>
      </p:pic>
      <p:pic>
        <p:nvPicPr>
          <p:cNvPr id="6" name="image110.png">
            <a:extLst>
              <a:ext uri="{FF2B5EF4-FFF2-40B4-BE49-F238E27FC236}">
                <a16:creationId xmlns:a16="http://schemas.microsoft.com/office/drawing/2014/main" id="{9C0247C0-FB86-2346-8EEB-95B4EC3CF2CA}"/>
              </a:ext>
            </a:extLst>
          </p:cNvPr>
          <p:cNvPicPr/>
          <p:nvPr/>
        </p:nvPicPr>
        <p:blipFill>
          <a:blip r:embed="rId3"/>
          <a:srcRect l="2508" t="11787" r="9578"/>
          <a:stretch>
            <a:fillRect/>
          </a:stretch>
        </p:blipFill>
        <p:spPr>
          <a:xfrm>
            <a:off x="6096000" y="1192212"/>
            <a:ext cx="4629785" cy="3672840"/>
          </a:xfrm>
          <a:prstGeom prst="rect">
            <a:avLst/>
          </a:prstGeom>
          <a:ln/>
        </p:spPr>
      </p:pic>
      <p:sp>
        <p:nvSpPr>
          <p:cNvPr id="7" name="TextBox 6">
            <a:extLst>
              <a:ext uri="{FF2B5EF4-FFF2-40B4-BE49-F238E27FC236}">
                <a16:creationId xmlns:a16="http://schemas.microsoft.com/office/drawing/2014/main" id="{03E4BD99-B221-20F3-2F8E-C58C86DB134E}"/>
              </a:ext>
            </a:extLst>
          </p:cNvPr>
          <p:cNvSpPr txBox="1"/>
          <p:nvPr/>
        </p:nvSpPr>
        <p:spPr>
          <a:xfrm>
            <a:off x="1722120" y="5334000"/>
            <a:ext cx="2267224" cy="369332"/>
          </a:xfrm>
          <a:prstGeom prst="rect">
            <a:avLst/>
          </a:prstGeom>
          <a:noFill/>
        </p:spPr>
        <p:txBody>
          <a:bodyPr wrap="none" rtlCol="0">
            <a:spAutoFit/>
          </a:bodyPr>
          <a:lstStyle/>
          <a:p>
            <a:r>
              <a:rPr lang="en-IN" b="1"/>
              <a:t>a) </a:t>
            </a:r>
            <a:r>
              <a:rPr lang="en-IN"/>
              <a:t>Training accuracy</a:t>
            </a:r>
            <a:endParaRPr lang="en-IN" dirty="0"/>
          </a:p>
        </p:txBody>
      </p:sp>
      <p:sp>
        <p:nvSpPr>
          <p:cNvPr id="9" name="TextBox 8">
            <a:extLst>
              <a:ext uri="{FF2B5EF4-FFF2-40B4-BE49-F238E27FC236}">
                <a16:creationId xmlns:a16="http://schemas.microsoft.com/office/drawing/2014/main" id="{2AF73044-12BA-2548-73AD-EAA344D7537C}"/>
              </a:ext>
            </a:extLst>
          </p:cNvPr>
          <p:cNvSpPr txBox="1"/>
          <p:nvPr/>
        </p:nvSpPr>
        <p:spPr>
          <a:xfrm>
            <a:off x="7540974" y="5334000"/>
            <a:ext cx="1739835" cy="369332"/>
          </a:xfrm>
          <a:prstGeom prst="rect">
            <a:avLst/>
          </a:prstGeom>
          <a:noFill/>
        </p:spPr>
        <p:txBody>
          <a:bodyPr wrap="none" rtlCol="0">
            <a:spAutoFit/>
          </a:bodyPr>
          <a:lstStyle/>
          <a:p>
            <a:r>
              <a:rPr lang="en-IN" b="1"/>
              <a:t>b) </a:t>
            </a:r>
            <a:r>
              <a:rPr lang="en-IN"/>
              <a:t>Training loss</a:t>
            </a:r>
            <a:endParaRPr lang="en-IN" dirty="0"/>
          </a:p>
        </p:txBody>
      </p:sp>
    </p:spTree>
    <p:extLst>
      <p:ext uri="{BB962C8B-B14F-4D97-AF65-F5344CB8AC3E}">
        <p14:creationId xmlns:p14="http://schemas.microsoft.com/office/powerpoint/2010/main" val="425537152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image117.png">
            <a:extLst>
              <a:ext uri="{FF2B5EF4-FFF2-40B4-BE49-F238E27FC236}">
                <a16:creationId xmlns:a16="http://schemas.microsoft.com/office/drawing/2014/main" id="{27234F72-D727-DBBF-F6CD-F7105125D49B}"/>
              </a:ext>
            </a:extLst>
          </p:cNvPr>
          <p:cNvPicPr/>
          <p:nvPr/>
        </p:nvPicPr>
        <p:blipFill>
          <a:blip r:embed="rId2"/>
          <a:srcRect l="2655" t="11787" r="9430"/>
          <a:stretch>
            <a:fillRect/>
          </a:stretch>
        </p:blipFill>
        <p:spPr>
          <a:xfrm>
            <a:off x="478790" y="1249680"/>
            <a:ext cx="4824730" cy="3486150"/>
          </a:xfrm>
          <a:prstGeom prst="rect">
            <a:avLst/>
          </a:prstGeom>
          <a:ln/>
        </p:spPr>
      </p:pic>
      <p:pic>
        <p:nvPicPr>
          <p:cNvPr id="6" name="image115.png">
            <a:extLst>
              <a:ext uri="{FF2B5EF4-FFF2-40B4-BE49-F238E27FC236}">
                <a16:creationId xmlns:a16="http://schemas.microsoft.com/office/drawing/2014/main" id="{80ABEC47-0C92-50A8-DB38-98EAD5986890}"/>
              </a:ext>
            </a:extLst>
          </p:cNvPr>
          <p:cNvPicPr/>
          <p:nvPr/>
        </p:nvPicPr>
        <p:blipFill>
          <a:blip r:embed="rId3"/>
          <a:srcRect l="2508" t="11592" r="9444"/>
          <a:stretch>
            <a:fillRect/>
          </a:stretch>
        </p:blipFill>
        <p:spPr>
          <a:xfrm>
            <a:off x="6096000" y="1249680"/>
            <a:ext cx="4824730" cy="3486150"/>
          </a:xfrm>
          <a:prstGeom prst="rect">
            <a:avLst/>
          </a:prstGeom>
          <a:ln/>
        </p:spPr>
      </p:pic>
      <p:sp>
        <p:nvSpPr>
          <p:cNvPr id="7" name="TextBox 6">
            <a:extLst>
              <a:ext uri="{FF2B5EF4-FFF2-40B4-BE49-F238E27FC236}">
                <a16:creationId xmlns:a16="http://schemas.microsoft.com/office/drawing/2014/main" id="{600E61D0-7AF1-28C9-C6E7-8DD638E3B3F5}"/>
              </a:ext>
            </a:extLst>
          </p:cNvPr>
          <p:cNvSpPr txBox="1"/>
          <p:nvPr/>
        </p:nvSpPr>
        <p:spPr>
          <a:xfrm>
            <a:off x="2011680" y="5303520"/>
            <a:ext cx="2166106" cy="369332"/>
          </a:xfrm>
          <a:prstGeom prst="rect">
            <a:avLst/>
          </a:prstGeom>
          <a:noFill/>
        </p:spPr>
        <p:txBody>
          <a:bodyPr wrap="none" rtlCol="0">
            <a:spAutoFit/>
          </a:bodyPr>
          <a:lstStyle/>
          <a:p>
            <a:r>
              <a:rPr lang="en-IN" b="1" dirty="0"/>
              <a:t>c) </a:t>
            </a:r>
            <a:r>
              <a:rPr lang="en-IN" dirty="0"/>
              <a:t>Testing accuracy</a:t>
            </a:r>
          </a:p>
        </p:txBody>
      </p:sp>
      <p:sp>
        <p:nvSpPr>
          <p:cNvPr id="8" name="TextBox 7">
            <a:extLst>
              <a:ext uri="{FF2B5EF4-FFF2-40B4-BE49-F238E27FC236}">
                <a16:creationId xmlns:a16="http://schemas.microsoft.com/office/drawing/2014/main" id="{B6456DD8-D250-C69D-7983-F1A3DF49555D}"/>
              </a:ext>
            </a:extLst>
          </p:cNvPr>
          <p:cNvSpPr txBox="1"/>
          <p:nvPr/>
        </p:nvSpPr>
        <p:spPr>
          <a:xfrm>
            <a:off x="7543800" y="5303520"/>
            <a:ext cx="1643527" cy="369332"/>
          </a:xfrm>
          <a:prstGeom prst="rect">
            <a:avLst/>
          </a:prstGeom>
          <a:noFill/>
        </p:spPr>
        <p:txBody>
          <a:bodyPr wrap="none" rtlCol="0">
            <a:spAutoFit/>
          </a:bodyPr>
          <a:lstStyle/>
          <a:p>
            <a:r>
              <a:rPr lang="en-IN" b="1" dirty="0"/>
              <a:t>d) </a:t>
            </a:r>
            <a:r>
              <a:rPr lang="en-IN" dirty="0"/>
              <a:t>Testing loss</a:t>
            </a:r>
          </a:p>
        </p:txBody>
      </p:sp>
    </p:spTree>
    <p:extLst>
      <p:ext uri="{BB962C8B-B14F-4D97-AF65-F5344CB8AC3E}">
        <p14:creationId xmlns:p14="http://schemas.microsoft.com/office/powerpoint/2010/main" val="351228976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108.png">
            <a:extLst>
              <a:ext uri="{FF2B5EF4-FFF2-40B4-BE49-F238E27FC236}">
                <a16:creationId xmlns:a16="http://schemas.microsoft.com/office/drawing/2014/main" id="{59D730EA-50D1-715B-786C-C0BA162EA3BC}"/>
              </a:ext>
            </a:extLst>
          </p:cNvPr>
          <p:cNvPicPr/>
          <p:nvPr/>
        </p:nvPicPr>
        <p:blipFill>
          <a:blip r:embed="rId2"/>
          <a:srcRect l="3312" t="7628" r="16165" b="2036"/>
          <a:stretch>
            <a:fillRect/>
          </a:stretch>
        </p:blipFill>
        <p:spPr>
          <a:xfrm>
            <a:off x="495300" y="1661160"/>
            <a:ext cx="4259580" cy="2782887"/>
          </a:xfrm>
          <a:prstGeom prst="rect">
            <a:avLst/>
          </a:prstGeom>
          <a:ln/>
        </p:spPr>
      </p:pic>
      <p:pic>
        <p:nvPicPr>
          <p:cNvPr id="3" name="image106.png">
            <a:extLst>
              <a:ext uri="{FF2B5EF4-FFF2-40B4-BE49-F238E27FC236}">
                <a16:creationId xmlns:a16="http://schemas.microsoft.com/office/drawing/2014/main" id="{EF6C087A-9860-3372-1A93-A0BD18B01B1C}"/>
              </a:ext>
            </a:extLst>
          </p:cNvPr>
          <p:cNvPicPr/>
          <p:nvPr/>
        </p:nvPicPr>
        <p:blipFill>
          <a:blip r:embed="rId3"/>
          <a:srcRect l="1956" t="1011" r="6683"/>
          <a:stretch>
            <a:fillRect/>
          </a:stretch>
        </p:blipFill>
        <p:spPr>
          <a:xfrm>
            <a:off x="6096000" y="1148318"/>
            <a:ext cx="4967605" cy="4561363"/>
          </a:xfrm>
          <a:prstGeom prst="rect">
            <a:avLst/>
          </a:prstGeom>
          <a:ln/>
        </p:spPr>
      </p:pic>
    </p:spTree>
    <p:extLst>
      <p:ext uri="{BB962C8B-B14F-4D97-AF65-F5344CB8AC3E}">
        <p14:creationId xmlns:p14="http://schemas.microsoft.com/office/powerpoint/2010/main" val="350356641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0BA62A-359F-4744-9303-B90A4F7FEA3A}"/>
              </a:ext>
            </a:extLst>
          </p:cNvPr>
          <p:cNvSpPr>
            <a:spLocks noGrp="1"/>
          </p:cNvSpPr>
          <p:nvPr>
            <p:ph type="title"/>
          </p:nvPr>
        </p:nvSpPr>
        <p:spPr/>
        <p:txBody>
          <a:bodyPr/>
          <a:lstStyle/>
          <a:p>
            <a:pPr algn="ctr"/>
            <a:r>
              <a:rPr lang="en-IN" b="1" u="sng" dirty="0">
                <a:solidFill>
                  <a:schemeClr val="tx1"/>
                </a:solidFill>
                <a:latin typeface="Times New Roman" panose="02020603050405020304" pitchFamily="18" charset="0"/>
                <a:cs typeface="Times New Roman" panose="02020603050405020304" pitchFamily="18" charset="0"/>
              </a:rPr>
              <a:t>Discussions</a:t>
            </a:r>
          </a:p>
        </p:txBody>
      </p:sp>
      <p:sp>
        <p:nvSpPr>
          <p:cNvPr id="3" name="Content Placeholder 2">
            <a:extLst>
              <a:ext uri="{FF2B5EF4-FFF2-40B4-BE49-F238E27FC236}">
                <a16:creationId xmlns:a16="http://schemas.microsoft.com/office/drawing/2014/main" id="{BCC11579-5732-8B5F-54B0-551BC231F556}"/>
              </a:ext>
            </a:extLst>
          </p:cNvPr>
          <p:cNvSpPr>
            <a:spLocks noGrp="1"/>
          </p:cNvSpPr>
          <p:nvPr>
            <p:ph idx="1"/>
          </p:nvPr>
        </p:nvSpPr>
        <p:spPr>
          <a:xfrm>
            <a:off x="677334" y="1488613"/>
            <a:ext cx="8596668" cy="3880773"/>
          </a:xfrm>
        </p:spPr>
        <p:txBody>
          <a:bodyPr>
            <a:normAutofit fontScale="92500" lnSpcReduction="20000"/>
          </a:bodyPr>
          <a:lstStyle/>
          <a:p>
            <a:pPr marL="0" indent="0" algn="just">
              <a:buNone/>
            </a:pPr>
            <a:r>
              <a:rPr lang="en-US" sz="1900" dirty="0">
                <a:latin typeface="Times New Roman" panose="02020603050405020304" pitchFamily="18" charset="0"/>
                <a:cs typeface="Times New Roman" panose="02020603050405020304" pitchFamily="18" charset="0"/>
              </a:rPr>
              <a:t>The proposed transformer-based sleep apnea detection framework demonstrates significant improvement over existing approaches, particularly in handling pre-term infant physiological signals. By integrating a dual-branch fusion Temporal Convolutional Network (TCN) with Bi-GRU and cross-attention mechanisms, the model effectively captures both local and temporal dependencies from ECG and respiratory signals, resulting in richer feature representation and more stable processing. The inclusion of a transformer with dilated attention further enhances detection accuracy while minimizing information loss through residual connections. Experimental results show that the proposed model achieves a high accuracy of 98.63%, outperforming existing methods such as SFBFS-ML (85.46%), Hybrid Transformer (94.21%), </a:t>
            </a:r>
            <a:r>
              <a:rPr lang="en-US" sz="1900" dirty="0" err="1">
                <a:latin typeface="Times New Roman" panose="02020603050405020304" pitchFamily="18" charset="0"/>
                <a:cs typeface="Times New Roman" panose="02020603050405020304" pitchFamily="18" charset="0"/>
              </a:rPr>
              <a:t>RAFNet</a:t>
            </a:r>
            <a:r>
              <a:rPr lang="en-US" sz="1900" dirty="0">
                <a:latin typeface="Times New Roman" panose="02020603050405020304" pitchFamily="18" charset="0"/>
                <a:cs typeface="Times New Roman" panose="02020603050405020304" pitchFamily="18" charset="0"/>
              </a:rPr>
              <a:t> (91.4%), and CNN-BBHBO (90.92%). Unlike traditional machine learning and some deep learning approaches that suffer from lower accuracy or generalizability issues, the proposed framework ensures better reliability through comprehensive stages including preprocessing, feature extraction, detection, parameter tuning, and explainable AI interpretation. Overall, the model provides a robust, scalable, and clinically relevant solution for sleep apnea detection with improved generalization and performance.</a:t>
            </a:r>
          </a:p>
          <a:p>
            <a:pPr marL="0" indent="0" algn="just">
              <a:buNone/>
            </a:pPr>
            <a:endParaRPr lang="en-IN" dirty="0"/>
          </a:p>
        </p:txBody>
      </p:sp>
    </p:spTree>
    <p:extLst>
      <p:ext uri="{BB962C8B-B14F-4D97-AF65-F5344CB8AC3E}">
        <p14:creationId xmlns:p14="http://schemas.microsoft.com/office/powerpoint/2010/main" val="203998861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96C584-E4E2-60AB-EFEE-C2E826E0AC2B}"/>
              </a:ext>
            </a:extLst>
          </p:cNvPr>
          <p:cNvSpPr>
            <a:spLocks noGrp="1"/>
          </p:cNvSpPr>
          <p:nvPr>
            <p:ph type="title"/>
          </p:nvPr>
        </p:nvSpPr>
        <p:spPr/>
        <p:txBody>
          <a:bodyPr/>
          <a:lstStyle/>
          <a:p>
            <a:pPr algn="ctr"/>
            <a:r>
              <a:rPr lang="en-IN" b="1" u="sng" dirty="0">
                <a:solidFill>
                  <a:schemeClr val="tx1"/>
                </a:solidFill>
                <a:latin typeface="Times New Roman" panose="02020603050405020304" pitchFamily="18" charset="0"/>
                <a:cs typeface="Times New Roman" panose="02020603050405020304" pitchFamily="18" charset="0"/>
              </a:rPr>
              <a:t>Conclusion</a:t>
            </a:r>
          </a:p>
        </p:txBody>
      </p:sp>
      <p:sp>
        <p:nvSpPr>
          <p:cNvPr id="3" name="Content Placeholder 2">
            <a:extLst>
              <a:ext uri="{FF2B5EF4-FFF2-40B4-BE49-F238E27FC236}">
                <a16:creationId xmlns:a16="http://schemas.microsoft.com/office/drawing/2014/main" id="{44E8717A-7DD6-AEAF-8F61-14C1D37847FE}"/>
              </a:ext>
            </a:extLst>
          </p:cNvPr>
          <p:cNvSpPr>
            <a:spLocks noGrp="1"/>
          </p:cNvSpPr>
          <p:nvPr>
            <p:ph idx="1"/>
          </p:nvPr>
        </p:nvSpPr>
        <p:spPr>
          <a:xfrm>
            <a:off x="677334" y="1747634"/>
            <a:ext cx="8997608" cy="3880773"/>
          </a:xfrm>
        </p:spPr>
        <p:txBody>
          <a:bodyPr/>
          <a:lstStyle/>
          <a:p>
            <a:pPr marL="0" indent="0" algn="just">
              <a:buNone/>
            </a:pPr>
            <a:r>
              <a:rPr lang="en-US" dirty="0">
                <a:latin typeface="Times New Roman" panose="02020603050405020304" pitchFamily="18" charset="0"/>
                <a:cs typeface="Times New Roman" panose="02020603050405020304" pitchFamily="18" charset="0"/>
              </a:rPr>
              <a:t>The proposed transformer-based sleep apnea detection framework provides an accurate and reliable solution for identifying apnea in pre-term infants. By combining dual-branch TCN, Bi-GRU, and attention mechanisms, the model effectively captures complex physiological patterns from ECG and respiratory signals. The system achieves high accuracy and improved generalizability compared to existing methods, demonstrating its robustness in real-world scenarios. Overall, this approach enhances automated diagnosis and has strong potential for clinical application, with future scope for further optimization and deployment on larger datasets.</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25781742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AD8BBE3B-49FE-1E96-539A-F6F97D72E57D}"/>
              </a:ext>
            </a:extLst>
          </p:cNvPr>
          <p:cNvSpPr txBox="1"/>
          <p:nvPr/>
        </p:nvSpPr>
        <p:spPr>
          <a:xfrm>
            <a:off x="2815520" y="263477"/>
            <a:ext cx="6104020" cy="584775"/>
          </a:xfrm>
          <a:prstGeom prst="rect">
            <a:avLst/>
          </a:prstGeom>
          <a:noFill/>
        </p:spPr>
        <p:txBody>
          <a:bodyPr wrap="square">
            <a:spAutoFit/>
          </a:bodyPr>
          <a:lstStyle/>
          <a:p>
            <a:pPr algn="ctr"/>
            <a:r>
              <a:rPr lang="en-IN" sz="3200" b="1" u="sng" dirty="0">
                <a:latin typeface="Times New Roman" panose="02020603050405020304" pitchFamily="18" charset="0"/>
                <a:cs typeface="Times New Roman" panose="02020603050405020304" pitchFamily="18" charset="0"/>
              </a:rPr>
              <a:t>References</a:t>
            </a:r>
          </a:p>
        </p:txBody>
      </p:sp>
      <p:sp>
        <p:nvSpPr>
          <p:cNvPr id="5" name="TextBox 4">
            <a:extLst>
              <a:ext uri="{FF2B5EF4-FFF2-40B4-BE49-F238E27FC236}">
                <a16:creationId xmlns:a16="http://schemas.microsoft.com/office/drawing/2014/main" id="{647531D6-0550-7966-3D65-8A6C5A5ADE0F}"/>
              </a:ext>
            </a:extLst>
          </p:cNvPr>
          <p:cNvSpPr txBox="1"/>
          <p:nvPr/>
        </p:nvSpPr>
        <p:spPr>
          <a:xfrm>
            <a:off x="670561" y="1218256"/>
            <a:ext cx="9875520" cy="5016758"/>
          </a:xfrm>
          <a:prstGeom prst="rect">
            <a:avLst/>
          </a:prstGeom>
          <a:noFill/>
        </p:spPr>
        <p:txBody>
          <a:bodyPr wrap="square">
            <a:spAutoFit/>
          </a:bodyPr>
          <a:lstStyle/>
          <a:p>
            <a:pPr marL="342900" indent="-342900" algn="just">
              <a:buFont typeface="Wingdings" panose="05000000000000000000" pitchFamily="2" charset="2"/>
              <a:buChar char="q"/>
            </a:pPr>
            <a:r>
              <a:rPr lang="en-IN" sz="2000" dirty="0">
                <a:latin typeface="Times New Roman" panose="02020603050405020304" pitchFamily="18" charset="0"/>
                <a:cs typeface="Times New Roman" panose="02020603050405020304" pitchFamily="18" charset="0"/>
              </a:rPr>
              <a:t>Padovano, Daniele, Arturo Martinez-Rodrigo, Jose M. Pastor, Jose J. Rieta, and Raul Alcaraz. “the generalization of sleep </a:t>
            </a:r>
            <a:r>
              <a:rPr lang="en-IN" sz="2000" dirty="0" err="1">
                <a:latin typeface="Times New Roman" panose="02020603050405020304" pitchFamily="18" charset="0"/>
                <a:cs typeface="Times New Roman" panose="02020603050405020304" pitchFamily="18" charset="0"/>
              </a:rPr>
              <a:t>apnea</a:t>
            </a:r>
            <a:r>
              <a:rPr lang="en-IN" sz="2000" dirty="0">
                <a:latin typeface="Times New Roman" panose="02020603050405020304" pitchFamily="18" charset="0"/>
                <a:cs typeface="Times New Roman" panose="02020603050405020304" pitchFamily="18" charset="0"/>
              </a:rPr>
              <a:t> detection methods based on heart rate variability and machine </a:t>
            </a:r>
            <a:r>
              <a:rPr lang="en-IN" sz="2000" dirty="0" err="1">
                <a:latin typeface="Times New Roman" panose="02020603050405020304" pitchFamily="18" charset="0"/>
                <a:cs typeface="Times New Roman" panose="02020603050405020304" pitchFamily="18" charset="0"/>
              </a:rPr>
              <a:t>learning:”IEEE</a:t>
            </a:r>
            <a:r>
              <a:rPr lang="en-IN" sz="2000" dirty="0">
                <a:latin typeface="Times New Roman" panose="02020603050405020304" pitchFamily="18" charset="0"/>
                <a:cs typeface="Times New Roman" panose="02020603050405020304" pitchFamily="18" charset="0"/>
              </a:rPr>
              <a:t> Access 10 (2022): 92710-92725.</a:t>
            </a:r>
          </a:p>
          <a:p>
            <a:pPr marL="342900" indent="-342900" algn="just">
              <a:buFont typeface="Wingdings" panose="05000000000000000000" pitchFamily="2" charset="2"/>
              <a:buChar char="q"/>
            </a:pPr>
            <a:r>
              <a:rPr lang="en-IN" sz="2000" dirty="0">
                <a:latin typeface="Times New Roman" panose="02020603050405020304" pitchFamily="18" charset="0"/>
                <a:cs typeface="Times New Roman" panose="02020603050405020304" pitchFamily="18" charset="0"/>
              </a:rPr>
              <a:t>[17] Hu, </a:t>
            </a:r>
            <a:r>
              <a:rPr lang="en-IN" sz="2000" dirty="0" err="1">
                <a:latin typeface="Times New Roman" panose="02020603050405020304" pitchFamily="18" charset="0"/>
                <a:cs typeface="Times New Roman" panose="02020603050405020304" pitchFamily="18" charset="0"/>
              </a:rPr>
              <a:t>Shuaicong</a:t>
            </a:r>
            <a:r>
              <a:rPr lang="en-IN" sz="2000" dirty="0">
                <a:latin typeface="Times New Roman" panose="02020603050405020304" pitchFamily="18" charset="0"/>
                <a:cs typeface="Times New Roman" panose="02020603050405020304" pitchFamily="18" charset="0"/>
              </a:rPr>
              <a:t>, Wenjie Cai, </a:t>
            </a:r>
            <a:r>
              <a:rPr lang="en-IN" sz="2000" dirty="0" err="1">
                <a:latin typeface="Times New Roman" panose="02020603050405020304" pitchFamily="18" charset="0"/>
                <a:cs typeface="Times New Roman" panose="02020603050405020304" pitchFamily="18" charset="0"/>
              </a:rPr>
              <a:t>Tijie</a:t>
            </a:r>
            <a:r>
              <a:rPr lang="en-IN" sz="2000" dirty="0">
                <a:latin typeface="Times New Roman" panose="02020603050405020304" pitchFamily="18" charset="0"/>
                <a:cs typeface="Times New Roman" panose="02020603050405020304" pitchFamily="18" charset="0"/>
              </a:rPr>
              <a:t> Gao, and </a:t>
            </a:r>
            <a:r>
              <a:rPr lang="en-IN" sz="2000" dirty="0" err="1">
                <a:latin typeface="Times New Roman" panose="02020603050405020304" pitchFamily="18" charset="0"/>
                <a:cs typeface="Times New Roman" panose="02020603050405020304" pitchFamily="18" charset="0"/>
              </a:rPr>
              <a:t>Mingjie</a:t>
            </a:r>
            <a:r>
              <a:rPr lang="en-IN" sz="2000" dirty="0">
                <a:latin typeface="Times New Roman" panose="02020603050405020304" pitchFamily="18" charset="0"/>
                <a:cs typeface="Times New Roman" panose="02020603050405020304" pitchFamily="18" charset="0"/>
              </a:rPr>
              <a:t> Wang. “A hybrid transformer </a:t>
            </a:r>
            <a:r>
              <a:rPr lang="en-IN" sz="2000" dirty="0" err="1">
                <a:latin typeface="Times New Roman" panose="02020603050405020304" pitchFamily="18" charset="0"/>
                <a:cs typeface="Times New Roman" panose="02020603050405020304" pitchFamily="18" charset="0"/>
              </a:rPr>
              <a:t>modelfor</a:t>
            </a:r>
            <a:r>
              <a:rPr lang="en-IN" sz="2000" dirty="0">
                <a:latin typeface="Times New Roman" panose="02020603050405020304" pitchFamily="18" charset="0"/>
                <a:cs typeface="Times New Roman" panose="02020603050405020304" pitchFamily="18" charset="0"/>
              </a:rPr>
              <a:t> obstructive sleep </a:t>
            </a:r>
            <a:r>
              <a:rPr lang="en-IN" sz="2000" dirty="0" err="1">
                <a:latin typeface="Times New Roman" panose="02020603050405020304" pitchFamily="18" charset="0"/>
                <a:cs typeface="Times New Roman" panose="02020603050405020304" pitchFamily="18" charset="0"/>
              </a:rPr>
              <a:t>apnea</a:t>
            </a:r>
            <a:r>
              <a:rPr lang="en-IN" sz="2000" dirty="0">
                <a:latin typeface="Times New Roman" panose="02020603050405020304" pitchFamily="18" charset="0"/>
                <a:cs typeface="Times New Roman" panose="02020603050405020304" pitchFamily="18" charset="0"/>
              </a:rPr>
              <a:t> detection based on self-attention mechanism using single-</a:t>
            </a:r>
            <a:r>
              <a:rPr lang="en-IN" sz="2000" dirty="0" err="1">
                <a:latin typeface="Times New Roman" panose="02020603050405020304" pitchFamily="18" charset="0"/>
                <a:cs typeface="Times New Roman" panose="02020603050405020304" pitchFamily="18" charset="0"/>
              </a:rPr>
              <a:t>leadECG”IEEE</a:t>
            </a:r>
            <a:r>
              <a:rPr lang="en-IN" sz="2000" dirty="0">
                <a:latin typeface="Times New Roman" panose="02020603050405020304" pitchFamily="18" charset="0"/>
                <a:cs typeface="Times New Roman" panose="02020603050405020304" pitchFamily="18" charset="0"/>
              </a:rPr>
              <a:t> Transactions on Instrumentation and Measurement 71 (2022): 1-11.</a:t>
            </a:r>
          </a:p>
          <a:p>
            <a:pPr marL="342900" indent="-342900" algn="just">
              <a:buFont typeface="Wingdings" panose="05000000000000000000" pitchFamily="2" charset="2"/>
              <a:buChar char="q"/>
            </a:pPr>
            <a:r>
              <a:rPr lang="en-IN" sz="2000" dirty="0">
                <a:latin typeface="Times New Roman" panose="02020603050405020304" pitchFamily="18" charset="0"/>
                <a:cs typeface="Times New Roman" panose="02020603050405020304" pitchFamily="18" charset="0"/>
              </a:rPr>
              <a:t>Chen, Ying, </a:t>
            </a:r>
            <a:r>
              <a:rPr lang="en-IN" sz="2000" dirty="0" err="1">
                <a:latin typeface="Times New Roman" panose="02020603050405020304" pitchFamily="18" charset="0"/>
                <a:cs typeface="Times New Roman" panose="02020603050405020304" pitchFamily="18" charset="0"/>
              </a:rPr>
              <a:t>Huijun</a:t>
            </a:r>
            <a:r>
              <a:rPr lang="en-IN" sz="2000" dirty="0">
                <a:latin typeface="Times New Roman" panose="02020603050405020304" pitchFamily="18" charset="0"/>
                <a:cs typeface="Times New Roman" panose="02020603050405020304" pitchFamily="18" charset="0"/>
              </a:rPr>
              <a:t> Yue, </a:t>
            </a:r>
            <a:r>
              <a:rPr lang="en-IN" sz="2000" dirty="0" err="1">
                <a:latin typeface="Times New Roman" panose="02020603050405020304" pitchFamily="18" charset="0"/>
                <a:cs typeface="Times New Roman" panose="02020603050405020304" pitchFamily="18" charset="0"/>
              </a:rPr>
              <a:t>Ruifeng</a:t>
            </a:r>
            <a:r>
              <a:rPr lang="en-IN" sz="2000" dirty="0">
                <a:latin typeface="Times New Roman" panose="02020603050405020304" pitchFamily="18" charset="0"/>
                <a:cs typeface="Times New Roman" panose="02020603050405020304" pitchFamily="18" charset="0"/>
              </a:rPr>
              <a:t> Zou, Wenbin Lei, Wenjun Ma, and </a:t>
            </a:r>
            <a:r>
              <a:rPr lang="en-IN" sz="2000" dirty="0" err="1">
                <a:latin typeface="Times New Roman" panose="02020603050405020304" pitchFamily="18" charset="0"/>
                <a:cs typeface="Times New Roman" panose="02020603050405020304" pitchFamily="18" charset="0"/>
              </a:rPr>
              <a:t>XiaomaoFan</a:t>
            </a:r>
            <a:r>
              <a:rPr lang="en-IN" sz="2000" dirty="0">
                <a:latin typeface="Times New Roman" panose="02020603050405020304" pitchFamily="18" charset="0"/>
                <a:cs typeface="Times New Roman" panose="02020603050405020304" pitchFamily="18" charset="0"/>
              </a:rPr>
              <a:t>.“</a:t>
            </a:r>
            <a:r>
              <a:rPr lang="en-IN" sz="2000" dirty="0" err="1">
                <a:latin typeface="Times New Roman" panose="02020603050405020304" pitchFamily="18" charset="0"/>
                <a:cs typeface="Times New Roman" panose="02020603050405020304" pitchFamily="18" charset="0"/>
              </a:rPr>
              <a:t>RAFNet</a:t>
            </a:r>
            <a:r>
              <a:rPr lang="en-IN" sz="2000" dirty="0">
                <a:latin typeface="Times New Roman" panose="02020603050405020304" pitchFamily="18" charset="0"/>
                <a:cs typeface="Times New Roman" panose="02020603050405020304" pitchFamily="18" charset="0"/>
              </a:rPr>
              <a:t> Restricted attention fusion network for sleep </a:t>
            </a:r>
            <a:r>
              <a:rPr lang="en-IN" sz="2000" dirty="0" err="1">
                <a:latin typeface="Times New Roman" panose="02020603050405020304" pitchFamily="18" charset="0"/>
                <a:cs typeface="Times New Roman" panose="02020603050405020304" pitchFamily="18" charset="0"/>
              </a:rPr>
              <a:t>apnea</a:t>
            </a:r>
            <a:r>
              <a:rPr lang="en-IN" sz="2000" dirty="0">
                <a:latin typeface="Times New Roman" panose="02020603050405020304" pitchFamily="18" charset="0"/>
                <a:cs typeface="Times New Roman" panose="02020603050405020304" pitchFamily="18" charset="0"/>
              </a:rPr>
              <a:t> </a:t>
            </a:r>
            <a:r>
              <a:rPr lang="en-IN" sz="2000" dirty="0" err="1">
                <a:latin typeface="Times New Roman" panose="02020603050405020304" pitchFamily="18" charset="0"/>
                <a:cs typeface="Times New Roman" panose="02020603050405020304" pitchFamily="18" charset="0"/>
              </a:rPr>
              <a:t>detection”NeuralNetworks</a:t>
            </a:r>
            <a:r>
              <a:rPr lang="en-IN" sz="2000" dirty="0">
                <a:latin typeface="Times New Roman" panose="02020603050405020304" pitchFamily="18" charset="0"/>
                <a:cs typeface="Times New Roman" panose="02020603050405020304" pitchFamily="18" charset="0"/>
              </a:rPr>
              <a:t> 162 (2023): 571-580.</a:t>
            </a:r>
          </a:p>
          <a:p>
            <a:pPr marL="342900" indent="-342900" algn="just">
              <a:buFont typeface="Wingdings" panose="05000000000000000000" pitchFamily="2" charset="2"/>
              <a:buChar char="q"/>
            </a:pPr>
            <a:r>
              <a:rPr lang="en-IN" sz="2000" dirty="0">
                <a:latin typeface="Times New Roman" panose="02020603050405020304" pitchFamily="18" charset="0"/>
                <a:cs typeface="Times New Roman" panose="02020603050405020304" pitchFamily="18" charset="0"/>
              </a:rPr>
              <a:t>Abasi, Ammar Kamal, Moayad </a:t>
            </a:r>
            <a:r>
              <a:rPr lang="en-IN" sz="2000" dirty="0" err="1">
                <a:latin typeface="Times New Roman" panose="02020603050405020304" pitchFamily="18" charset="0"/>
                <a:cs typeface="Times New Roman" panose="02020603050405020304" pitchFamily="18" charset="0"/>
              </a:rPr>
              <a:t>Aloqaily</a:t>
            </a:r>
            <a:r>
              <a:rPr lang="en-IN" sz="2000" dirty="0">
                <a:latin typeface="Times New Roman" panose="02020603050405020304" pitchFamily="18" charset="0"/>
                <a:cs typeface="Times New Roman" panose="02020603050405020304" pitchFamily="18" charset="0"/>
              </a:rPr>
              <a:t>, and Mohsen </a:t>
            </a:r>
            <a:r>
              <a:rPr lang="en-IN" sz="2000" dirty="0" err="1">
                <a:latin typeface="Times New Roman" panose="02020603050405020304" pitchFamily="18" charset="0"/>
                <a:cs typeface="Times New Roman" panose="02020603050405020304" pitchFamily="18" charset="0"/>
              </a:rPr>
              <a:t>Guizani</a:t>
            </a:r>
            <a:r>
              <a:rPr lang="en-IN" sz="2000" dirty="0">
                <a:latin typeface="Times New Roman" panose="02020603050405020304" pitchFamily="18" charset="0"/>
                <a:cs typeface="Times New Roman" panose="02020603050405020304" pitchFamily="18" charset="0"/>
              </a:rPr>
              <a:t>. “Bare-bones </a:t>
            </a:r>
            <a:r>
              <a:rPr lang="en-IN" sz="2000" dirty="0" err="1">
                <a:latin typeface="Times New Roman" panose="02020603050405020304" pitchFamily="18" charset="0"/>
                <a:cs typeface="Times New Roman" panose="02020603050405020304" pitchFamily="18" charset="0"/>
              </a:rPr>
              <a:t>basedhoney</a:t>
            </a:r>
            <a:r>
              <a:rPr lang="en-IN" sz="2000" dirty="0">
                <a:latin typeface="Times New Roman" panose="02020603050405020304" pitchFamily="18" charset="0"/>
                <a:cs typeface="Times New Roman" panose="02020603050405020304" pitchFamily="18" charset="0"/>
              </a:rPr>
              <a:t> badger algorithm of CNN for Sleep </a:t>
            </a:r>
            <a:r>
              <a:rPr lang="en-IN" sz="2000" dirty="0" err="1">
                <a:latin typeface="Times New Roman" panose="02020603050405020304" pitchFamily="18" charset="0"/>
                <a:cs typeface="Times New Roman" panose="02020603050405020304" pitchFamily="18" charset="0"/>
              </a:rPr>
              <a:t>Apnea</a:t>
            </a:r>
            <a:r>
              <a:rPr lang="en-IN" sz="2000" dirty="0">
                <a:latin typeface="Times New Roman" panose="02020603050405020304" pitchFamily="18" charset="0"/>
                <a:cs typeface="Times New Roman" panose="02020603050405020304" pitchFamily="18" charset="0"/>
              </a:rPr>
              <a:t> </a:t>
            </a:r>
            <a:r>
              <a:rPr lang="en-IN" sz="2000" dirty="0" err="1">
                <a:latin typeface="Times New Roman" panose="02020603050405020304" pitchFamily="18" charset="0"/>
                <a:cs typeface="Times New Roman" panose="02020603050405020304" pitchFamily="18" charset="0"/>
              </a:rPr>
              <a:t>detection”Cluster</a:t>
            </a:r>
            <a:r>
              <a:rPr lang="en-IN" sz="2000" dirty="0">
                <a:latin typeface="Times New Roman" panose="02020603050405020304" pitchFamily="18" charset="0"/>
                <a:cs typeface="Times New Roman" panose="02020603050405020304" pitchFamily="18" charset="0"/>
              </a:rPr>
              <a:t> Computing 27, no. 5(2024): 6145-6165.</a:t>
            </a:r>
          </a:p>
          <a:p>
            <a:pPr marL="342900" indent="-342900" algn="just">
              <a:buFont typeface="Wingdings" panose="05000000000000000000" pitchFamily="2" charset="2"/>
              <a:buChar char="q"/>
            </a:pPr>
            <a:r>
              <a:rPr lang="en-IN" sz="2000" dirty="0">
                <a:latin typeface="Times New Roman" panose="02020603050405020304" pitchFamily="18" charset="0"/>
                <a:cs typeface="Times New Roman" panose="02020603050405020304" pitchFamily="18" charset="0"/>
              </a:rPr>
              <a:t>Varisco, Gabriele, Zheng Peng, Hendrik Niemarkt, Peter Andriessen, Carola van </a:t>
            </a:r>
            <a:r>
              <a:rPr lang="en-IN" sz="2000" dirty="0" err="1">
                <a:latin typeface="Times New Roman" panose="02020603050405020304" pitchFamily="18" charset="0"/>
                <a:cs typeface="Times New Roman" panose="02020603050405020304" pitchFamily="18" charset="0"/>
              </a:rPr>
              <a:t>Pul,and</a:t>
            </a:r>
            <a:r>
              <a:rPr lang="en-IN" sz="2000" dirty="0">
                <a:latin typeface="Times New Roman" panose="02020603050405020304" pitchFamily="18" charset="0"/>
                <a:cs typeface="Times New Roman" panose="02020603050405020304" pitchFamily="18" charset="0"/>
              </a:rPr>
              <a:t> Xi </a:t>
            </a:r>
            <a:r>
              <a:rPr lang="en-IN" sz="2000" dirty="0" err="1">
                <a:latin typeface="Times New Roman" panose="02020603050405020304" pitchFamily="18" charset="0"/>
                <a:cs typeface="Times New Roman" panose="02020603050405020304" pitchFamily="18" charset="0"/>
              </a:rPr>
              <a:t>Long’Improving</a:t>
            </a:r>
            <a:r>
              <a:rPr lang="en-IN" sz="2000" dirty="0">
                <a:latin typeface="Times New Roman" panose="02020603050405020304" pitchFamily="18" charset="0"/>
                <a:cs typeface="Times New Roman" panose="02020603050405020304" pitchFamily="18" charset="0"/>
              </a:rPr>
              <a:t> central </a:t>
            </a:r>
            <a:r>
              <a:rPr lang="en-IN" sz="2000" dirty="0" err="1">
                <a:latin typeface="Times New Roman" panose="02020603050405020304" pitchFamily="18" charset="0"/>
                <a:cs typeface="Times New Roman" panose="02020603050405020304" pitchFamily="18" charset="0"/>
              </a:rPr>
              <a:t>apnea</a:t>
            </a:r>
            <a:r>
              <a:rPr lang="en-IN" sz="2000" dirty="0">
                <a:latin typeface="Times New Roman" panose="02020603050405020304" pitchFamily="18" charset="0"/>
                <a:cs typeface="Times New Roman" panose="02020603050405020304" pitchFamily="18" charset="0"/>
              </a:rPr>
              <a:t> detection in preterm infants: Neural network strategies and clinical </a:t>
            </a:r>
            <a:r>
              <a:rPr lang="en-IN" sz="2000" dirty="0" err="1">
                <a:latin typeface="Times New Roman" panose="02020603050405020304" pitchFamily="18" charset="0"/>
                <a:cs typeface="Times New Roman" panose="02020603050405020304" pitchFamily="18" charset="0"/>
              </a:rPr>
              <a:t>impact.”Computer</a:t>
            </a:r>
            <a:r>
              <a:rPr lang="en-IN" sz="2000" dirty="0">
                <a:latin typeface="Times New Roman" panose="02020603050405020304" pitchFamily="18" charset="0"/>
                <a:cs typeface="Times New Roman" panose="02020603050405020304" pitchFamily="18" charset="0"/>
              </a:rPr>
              <a:t> Methods and Programs in Biomedicine (2025):109038.</a:t>
            </a:r>
          </a:p>
          <a:p>
            <a:pPr marL="342900" indent="-342900">
              <a:buFont typeface="Wingdings" panose="05000000000000000000" pitchFamily="2" charset="2"/>
              <a:buChar char="q"/>
            </a:pPr>
            <a:endParaRPr lang="en-IN"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54996696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082A34-6630-BF43-7E14-03E3F7C0E9E7}"/>
              </a:ext>
            </a:extLst>
          </p:cNvPr>
          <p:cNvSpPr>
            <a:spLocks noGrp="1"/>
          </p:cNvSpPr>
          <p:nvPr>
            <p:ph type="title"/>
          </p:nvPr>
        </p:nvSpPr>
        <p:spPr/>
        <p:txBody>
          <a:bodyPr/>
          <a:lstStyle/>
          <a:p>
            <a:r>
              <a:rPr lang="en-US" sz="2400" b="1" u="sng" dirty="0">
                <a:solidFill>
                  <a:schemeClr val="tx1"/>
                </a:solidFill>
                <a:latin typeface="Times New Roman"/>
                <a:ea typeface="Calibri Light"/>
                <a:cs typeface="Calibri Light"/>
              </a:rPr>
              <a:t>PAPER PUBLICATION</a:t>
            </a:r>
            <a:br>
              <a:rPr lang="en-US" dirty="0">
                <a:latin typeface="Times New Roman"/>
                <a:ea typeface="Calibri Light"/>
                <a:cs typeface="Calibri Light"/>
              </a:rPr>
            </a:br>
            <a:endParaRPr lang="en-IN" dirty="0"/>
          </a:p>
        </p:txBody>
      </p:sp>
      <p:pic>
        <p:nvPicPr>
          <p:cNvPr id="5" name="Content Placeholder 4">
            <a:extLst>
              <a:ext uri="{FF2B5EF4-FFF2-40B4-BE49-F238E27FC236}">
                <a16:creationId xmlns:a16="http://schemas.microsoft.com/office/drawing/2014/main" id="{23E37EED-D909-7CC1-03BC-90B04FC25412}"/>
              </a:ext>
            </a:extLst>
          </p:cNvPr>
          <p:cNvPicPr>
            <a:picLocks noGrp="1" noChangeAspect="1"/>
          </p:cNvPicPr>
          <p:nvPr>
            <p:ph idx="1"/>
          </p:nvPr>
        </p:nvPicPr>
        <p:blipFill>
          <a:blip r:embed="rId2"/>
          <a:stretch>
            <a:fillRect/>
          </a:stretch>
        </p:blipFill>
        <p:spPr>
          <a:xfrm>
            <a:off x="1585732" y="1394363"/>
            <a:ext cx="6782764" cy="5110609"/>
          </a:xfrm>
          <a:prstGeom prst="rect">
            <a:avLst/>
          </a:prstGeom>
        </p:spPr>
      </p:pic>
    </p:spTree>
    <p:extLst>
      <p:ext uri="{BB962C8B-B14F-4D97-AF65-F5344CB8AC3E}">
        <p14:creationId xmlns:p14="http://schemas.microsoft.com/office/powerpoint/2010/main" val="126048664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90EA0967-8C8A-EDD2-3010-A341F4473AC6}"/>
              </a:ext>
            </a:extLst>
          </p:cNvPr>
          <p:cNvPicPr>
            <a:picLocks noChangeAspect="1"/>
          </p:cNvPicPr>
          <p:nvPr/>
        </p:nvPicPr>
        <p:blipFill>
          <a:blip r:embed="rId2"/>
          <a:srcRect b="9030"/>
          <a:stretch>
            <a:fillRect/>
          </a:stretch>
        </p:blipFill>
        <p:spPr>
          <a:xfrm>
            <a:off x="1121653" y="324091"/>
            <a:ext cx="7489911" cy="6238755"/>
          </a:xfrm>
          <a:prstGeom prst="rect">
            <a:avLst/>
          </a:prstGeom>
        </p:spPr>
      </p:pic>
    </p:spTree>
    <p:extLst>
      <p:ext uri="{BB962C8B-B14F-4D97-AF65-F5344CB8AC3E}">
        <p14:creationId xmlns:p14="http://schemas.microsoft.com/office/powerpoint/2010/main" val="304978132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738A5723-31E2-E311-E6BF-9409BA4002EC}"/>
              </a:ext>
            </a:extLst>
          </p:cNvPr>
          <p:cNvPicPr>
            <a:picLocks noChangeAspect="1"/>
          </p:cNvPicPr>
          <p:nvPr/>
        </p:nvPicPr>
        <p:blipFill>
          <a:blip r:embed="rId2"/>
          <a:stretch>
            <a:fillRect/>
          </a:stretch>
        </p:blipFill>
        <p:spPr>
          <a:xfrm>
            <a:off x="960699" y="138896"/>
            <a:ext cx="7546693" cy="6858000"/>
          </a:xfrm>
          <a:prstGeom prst="rect">
            <a:avLst/>
          </a:prstGeom>
        </p:spPr>
      </p:pic>
    </p:spTree>
    <p:extLst>
      <p:ext uri="{BB962C8B-B14F-4D97-AF65-F5344CB8AC3E}">
        <p14:creationId xmlns:p14="http://schemas.microsoft.com/office/powerpoint/2010/main" val="429295767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02913279-7F42-B5B8-5DD8-72CFBD2F3C99}"/>
              </a:ext>
            </a:extLst>
          </p:cNvPr>
          <p:cNvSpPr txBox="1"/>
          <p:nvPr/>
        </p:nvSpPr>
        <p:spPr>
          <a:xfrm>
            <a:off x="3761772" y="2789499"/>
            <a:ext cx="3627788" cy="769441"/>
          </a:xfrm>
          <a:prstGeom prst="rect">
            <a:avLst/>
          </a:prstGeom>
          <a:noFill/>
        </p:spPr>
        <p:txBody>
          <a:bodyPr wrap="none" rtlCol="0">
            <a:spAutoFit/>
          </a:bodyPr>
          <a:lstStyle/>
          <a:p>
            <a:r>
              <a:rPr lang="en-IN" sz="4400" b="1" dirty="0">
                <a:latin typeface="Times New Roman" panose="02020603050405020304" pitchFamily="18" charset="0"/>
                <a:cs typeface="Times New Roman" panose="02020603050405020304" pitchFamily="18" charset="0"/>
              </a:rPr>
              <a:t>THANK YOU</a:t>
            </a:r>
          </a:p>
        </p:txBody>
      </p:sp>
    </p:spTree>
    <p:extLst>
      <p:ext uri="{BB962C8B-B14F-4D97-AF65-F5344CB8AC3E}">
        <p14:creationId xmlns:p14="http://schemas.microsoft.com/office/powerpoint/2010/main" val="2590683486"/>
      </p:ext>
    </p:extLst>
  </p:cSld>
  <p:clrMapOvr>
    <a:masterClrMapping/>
  </p:clrMapOvr>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5FCBEF"/>
      </a:accent1>
      <a:accent2>
        <a:srgbClr val="2E83C3"/>
      </a:accent2>
      <a:accent3>
        <a:srgbClr val="42D0A2"/>
      </a:accent3>
      <a:accent4>
        <a:srgbClr val="2E946B"/>
      </a:accent4>
      <a:accent5>
        <a:srgbClr val="42B051"/>
      </a:accent5>
      <a:accent6>
        <a:srgbClr val="96D141"/>
      </a:accent6>
      <a:hlink>
        <a:srgbClr val="3FCDE7"/>
      </a:hlink>
      <a:folHlink>
        <a:srgbClr val="A9D3E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0B5AB586-D108-4FC1-8368-649FE654B89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Facet</Template>
  <TotalTime>19010</TotalTime>
  <Words>2054</Words>
  <Application>Microsoft Office PowerPoint</Application>
  <PresentationFormat>Widescreen</PresentationFormat>
  <Paragraphs>96</Paragraphs>
  <Slides>24</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24</vt:i4>
      </vt:variant>
    </vt:vector>
  </HeadingPairs>
  <TitlesOfParts>
    <vt:vector size="31" baseType="lpstr">
      <vt:lpstr>Arial</vt:lpstr>
      <vt:lpstr>Calibri</vt:lpstr>
      <vt:lpstr>Times New Roman</vt:lpstr>
      <vt:lpstr>Trebuchet MS</vt:lpstr>
      <vt:lpstr>Wingdings</vt:lpstr>
      <vt:lpstr>Wingdings 3</vt:lpstr>
      <vt:lpstr>Facet</vt:lpstr>
      <vt:lpstr>PowerPoint Presentation</vt:lpstr>
      <vt:lpstr>CONTENTS</vt:lpstr>
      <vt:lpstr>PowerPoint Presentation</vt:lpstr>
      <vt:lpstr>PowerPoint Presentation</vt:lpstr>
      <vt:lpstr>Introduction</vt:lpstr>
      <vt:lpstr>PowerPoint Presentation</vt:lpstr>
      <vt:lpstr>Literature study</vt:lpstr>
      <vt:lpstr>PowerPoint Presentation</vt:lpstr>
      <vt:lpstr>Existing Problem </vt:lpstr>
      <vt:lpstr>Research Objective</vt:lpstr>
      <vt:lpstr>Proposed Methodology</vt:lpstr>
      <vt:lpstr>Architecture Model</vt:lpstr>
      <vt:lpstr> </vt:lpstr>
      <vt:lpstr>Results</vt:lpstr>
      <vt:lpstr>PowerPoint Presentation</vt:lpstr>
      <vt:lpstr>PowerPoint Presentation</vt:lpstr>
      <vt:lpstr>PowerPoint Presentation</vt:lpstr>
      <vt:lpstr>Discussions</vt:lpstr>
      <vt:lpstr>Conclusion</vt:lpstr>
      <vt:lpstr>PowerPoint Presentation</vt:lpstr>
      <vt:lpstr>PAPER PUBLICATION </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TARUN SAI</dc:creator>
  <cp:lastModifiedBy>YASWANTH GOPALAM</cp:lastModifiedBy>
  <cp:revision>16</cp:revision>
  <dcterms:created xsi:type="dcterms:W3CDTF">2025-12-27T06:28:48Z</dcterms:created>
  <dcterms:modified xsi:type="dcterms:W3CDTF">2026-05-17T17:51:47Z</dcterms:modified>
</cp:coreProperties>
</file>